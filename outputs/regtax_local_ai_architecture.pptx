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ae5427a3674138" /><Relationship Type="http://schemas.openxmlformats.org/officeDocument/2006/relationships/extended-properties" Target="/docProps/app.xml" Id="R5666729c6d734007" /><Relationship Type="http://schemas.openxmlformats.org/officeDocument/2006/relationships/officeDocument" Target="/ppt/presentation.xml" Id="R78e283666fc04e81" /></Relationships>
</file>

<file path=ppt/presentation.xml><?xml version="1.0" encoding="utf-8"?>
<p:presentation xmlns:p="http://schemas.openxmlformats.org/presentationml/2006/main">
  <p:sldMasterIdLst>
    <p:sldMasterId xmlns:r="http://schemas.openxmlformats.org/officeDocument/2006/relationships" id="2147483648" r:id="R208d01d40dfd49e1"/>
  </p:sldMasterIdLst>
  <p:notesMasterIdLst>
    <p:notesMasterId xmlns:r="http://schemas.openxmlformats.org/officeDocument/2006/relationships" r:id="R85f83845064a4acb"/>
  </p:notesMasterIdLst>
  <p:sldIdLst>
    <p:sldId xmlns:r="http://schemas.openxmlformats.org/officeDocument/2006/relationships" id="256" r:id="R17d041264bbb41f5"/>
    <p:sldId xmlns:r="http://schemas.openxmlformats.org/officeDocument/2006/relationships" id="257" r:id="Re44ff9ba07164b40"/>
    <p:sldId xmlns:r="http://schemas.openxmlformats.org/officeDocument/2006/relationships" id="258" r:id="Rb6d07fda8c3840fb"/>
    <p:sldId xmlns:r="http://schemas.openxmlformats.org/officeDocument/2006/relationships" id="259" r:id="R486924da6f564c8d"/>
    <p:sldId xmlns:r="http://schemas.openxmlformats.org/officeDocument/2006/relationships" id="260" r:id="R793f04b513a54c48"/>
    <p:sldId xmlns:r="http://schemas.openxmlformats.org/officeDocument/2006/relationships" id="261" r:id="Rb0ade800c75b4cd1"/>
    <p:sldId xmlns:r="http://schemas.openxmlformats.org/officeDocument/2006/relationships" id="262" r:id="R03b43894f83c4359"/>
    <p:sldId xmlns:r="http://schemas.openxmlformats.org/officeDocument/2006/relationships" id="263" r:id="Rbb1bd1d86c2b4241"/>
    <p:sldId xmlns:r="http://schemas.openxmlformats.org/officeDocument/2006/relationships" id="264" r:id="Rbb2eed3762274fb9"/>
    <p:sldId xmlns:r="http://schemas.openxmlformats.org/officeDocument/2006/relationships" id="265" r:id="R3be119718c7341cb"/>
    <p:sldId xmlns:r="http://schemas.openxmlformats.org/officeDocument/2006/relationships" id="266" r:id="Ra427574f07cd476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1b4bea618b4a35" /><Relationship Type="http://schemas.openxmlformats.org/officeDocument/2006/relationships/slideMaster" Target="/ppt/slideMasters/slideMaster1.xml" Id="R208d01d40dfd49e1" /><Relationship Type="http://schemas.openxmlformats.org/officeDocument/2006/relationships/notesMaster" Target="/ppt/notesMasters/notesMaster1.xml" Id="R85f83845064a4acb" /><Relationship Type="http://schemas.openxmlformats.org/officeDocument/2006/relationships/presProps" Target="/ppt/presProps.xml" Id="Rb875897043c34d36" /><Relationship Type="http://schemas.openxmlformats.org/officeDocument/2006/relationships/tableStyles" Target="/ppt/tableStyles.xml" Id="R9fadaa75f3fe43fb" /><Relationship Type="http://schemas.openxmlformats.org/officeDocument/2006/relationships/slide" Target="/ppt/slides/slide1.xml" Id="R17d041264bbb41f5" /><Relationship Type="http://schemas.openxmlformats.org/officeDocument/2006/relationships/slide" Target="/ppt/slides/slide2.xml" Id="Re44ff9ba07164b40" /><Relationship Type="http://schemas.openxmlformats.org/officeDocument/2006/relationships/slide" Target="/ppt/slides/slide3.xml" Id="Rb6d07fda8c3840fb" /><Relationship Type="http://schemas.openxmlformats.org/officeDocument/2006/relationships/slide" Target="/ppt/slides/slide4.xml" Id="R486924da6f564c8d" /><Relationship Type="http://schemas.openxmlformats.org/officeDocument/2006/relationships/slide" Target="/ppt/slides/slide5.xml" Id="R793f04b513a54c48" /><Relationship Type="http://schemas.openxmlformats.org/officeDocument/2006/relationships/slide" Target="/ppt/slides/slide6.xml" Id="Rb0ade800c75b4cd1" /><Relationship Type="http://schemas.openxmlformats.org/officeDocument/2006/relationships/slide" Target="/ppt/slides/slide7.xml" Id="R03b43894f83c4359" /><Relationship Type="http://schemas.openxmlformats.org/officeDocument/2006/relationships/slide" Target="/ppt/slides/slide8.xml" Id="Rbb1bd1d86c2b4241" /><Relationship Type="http://schemas.openxmlformats.org/officeDocument/2006/relationships/slide" Target="/ppt/slides/slide9.xml" Id="Rbb2eed3762274fb9" /><Relationship Type="http://schemas.openxmlformats.org/officeDocument/2006/relationships/slide" Target="/ppt/slides/slide10.xml" Id="R3be119718c7341cb" /><Relationship Type="http://schemas.openxmlformats.org/officeDocument/2006/relationships/slide" Target="/ppt/slides/slide11.xml" Id="Ra427574f07cd47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555c8e192e41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dfdd8dc37e4f4d" /><Relationship Type="http://schemas.openxmlformats.org/officeDocument/2006/relationships/notesMaster" Target="/ppt/notesMasters/notesMaster1.xml" Id="Rc6605b4e2a3742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698bd1a811492a" /><Relationship Type="http://schemas.openxmlformats.org/officeDocument/2006/relationships/notesMaster" Target="/ppt/notesMasters/notesMaster1.xml" Id="R74e8d7aaf90942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261f90374e4768" /><Relationship Type="http://schemas.openxmlformats.org/officeDocument/2006/relationships/notesMaster" Target="/ppt/notesMasters/notesMaster1.xml" Id="Rb592982469724d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7f10d21265440f" /><Relationship Type="http://schemas.openxmlformats.org/officeDocument/2006/relationships/notesMaster" Target="/ppt/notesMasters/notesMaster1.xml" Id="Refb1282e8e3949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eea21cf6e845e8" /><Relationship Type="http://schemas.openxmlformats.org/officeDocument/2006/relationships/notesMaster" Target="/ppt/notesMasters/notesMaster1.xml" Id="R5104903c9f7948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835c241dbc4772" /><Relationship Type="http://schemas.openxmlformats.org/officeDocument/2006/relationships/notesMaster" Target="/ppt/notesMasters/notesMaster1.xml" Id="Rf4fd557296844d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15a84b598b4a8d" /><Relationship Type="http://schemas.openxmlformats.org/officeDocument/2006/relationships/notesMaster" Target="/ppt/notesMasters/notesMaster1.xml" Id="Rd0325da241594e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5c90a017a4450b" /><Relationship Type="http://schemas.openxmlformats.org/officeDocument/2006/relationships/notesMaster" Target="/ppt/notesMasters/notesMaster1.xml" Id="R0ed83887c8ff4e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9438cd2ad7480d" /><Relationship Type="http://schemas.openxmlformats.org/officeDocument/2006/relationships/notesMaster" Target="/ppt/notesMasters/notesMaster1.xml" Id="R7fbbdaed2f4e44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558bbfd07a444f" /><Relationship Type="http://schemas.openxmlformats.org/officeDocument/2006/relationships/notesMaster" Target="/ppt/notesMasters/notesMaster1.xml" Id="R5882bace10354c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94e711eb404bd2" /><Relationship Type="http://schemas.openxmlformats.org/officeDocument/2006/relationships/notesMaster" Target="/ppt/notesMasters/notesMaster1.xml" Id="Rf0cbecb1f15540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오늘은 regtax-monitor가 왜 로컬 모델을 중심으로 설계되었는지, 그리고 로컬 모델의 속도와 성능 한계를 어떤 시스템 구조로 보완하는지 설명드리겠습니다. 핵심은 로컬 모델이 API 모델보다 절대적으로 더 똑똑하다는 주장이 아닙니다. 민감한 eHR 코드를 외부로 보내지 않으면서도, 법령 변경 탐지부터 실제 적용 가능한 패치 초안까지 통제 가능한 방식으로 연결하는 것이 목표입니다.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이 프로젝트의 의사결정 기준입니다. 첫 번째 위험은 세법이나 노동법 개정을 놓치는 것입니다. 그래서 수집과 감지에서는 재현율을 우선합니다. 두 번째 위험은 AI가 잘못 만든 코드를 자동으로 반영하는 것입니다. 그래서 모델은 초안까지만 만들고, 파일 확인과 diff 생성, 테스트, 승인은 결정론적 코드와 사람이 담당합니다. 즉 모델 선택도 벤치마크 순위가 아니라 보안, 실패 영향, 운영 통제 가능성을 기준으로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방식의 장단점은 명확합니다. API 방식은 대형 모델을 바로 사용할 수 있어 초기 품질과 구축 속도가 좋습니다. 반면 코드 스니펫이라도 외부 전송 검토가 필요하고, 사용량에 따라 비용이 증가하며 모델 버전 변화의 영향을 받습니다. 로컬 방식은 초기 구축과 운영이 필요하고 CPU에서는 느리지만, 코드가 외부로 나가지 않고 모델과 데이터 버전을 고정할 수 있습니다. 이 프로젝트는 내부 eHR 코드와 매년 반복되는 업무라는 특성 때문에 로컬형을 기본으로 선택하되, LlmClient 인터페이스를 통해 API형을 대체 옵션으로 남깁니다.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구조에서 모델은 자유롭게 저장소를 돌아다니는 에이전트가 아닙니다. 법령 수집과 정규화, 변경 유형 분류를 거친 뒤, RAG와 용어 사전, 상수 값 매칭으로 관련 코드 후보를 좁힙니다. 모델은 그 코드만 보고 분석과 SEARCH/REPLACE 편집을 생성합니다. 이후 실제 파일 존재 여부, 앵커 일치, unified diff, git apply, 골든 테스트는 일반 코드가 수행합니다. 마지막에는 사람이 승인합니다. 이 구조는 모델이 틀릴 수 있다는 사실을 전제로 안전성을 만듭니다.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 모델에서는 모델 이름만 바꾸는 것으로 품질이 보장되지 않습니다. 특히 Ollama 컨텍스트 길이가 중요합니다. 4096으로 실행했을 때 프롬프트 앞부분이 잘려 도메인 오해석과 형식 오류가 발생했고, 16384로 올린 뒤 프롬프트 유실이 사라졌습니다. 요약과 코드 편집의 모델을 분리하고, Qwen3 thinking을 끄며, 낮은 temperature와 구조화된 출력 형식을 사용합니다. 또한 운영 수준에서는 모델, 프롬프트, 컨텍스트, 코드 commit을 함께 기록해야 같은 결과를 재현할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속도와 성능 단점은 세 가지로 보완합니다. 첫째, 전체 파일을 읽히지 않고 코드 구조 단위로 청킹해 필요한 후보만 검색합니다. 둘째, 전체 파일을 다시 쓰게 하지 않고 정확한 SEARCH/REPLACE 블록만 만들게 합니다. 앵커가 틀리면 실제 원본 주변만 다시 제공해 재시도합니다. 셋째, 모델이 diff를 직접 확정하지 못하게 하고 서버가 diff를 만든 뒤 스크래치에서 적용과 테스트를 수행합니다. 결과적으로 모델의 토큰 사용과 자유도를 줄이고, 오류가 실제 저장소에 영향을 주지 않게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변경에 같은 자동화 수준을 적용하면 안 됩니다. 기존 숫자, 비율, 날짜 변경은 상수 매칭과 골든 테스트가 잘 작동하기 때문에 초안 자동화에 적합합니다. 조건과 표 변경은 위치 매핑은 가능하지만 의미 검토가 필요합니다. 새 필드나 구조 개정은 분석과 영향 범위 제시에 집중하고 코드 초안 생성을 제한합니다. 최종 설계에서는 변경 유형과 신뢰도에 따라 초안 허용, 수동 검토 필수, 분석 전용 정책을 반환합니다.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성능은 모델 응답의 인상으로 평가하면 안 됩니다. 탐지에서는 놓치지 않는지, 검색에서는 정답 파일이 top-k 안에 들어오는지, 생성에서는 출력 형식과 앵커가 맞는지, 최종적으로 git apply와 골든 테스트를 통과하는지 봅니다. 그리고 사람이 수정 없이 승인했는지, 수정에 얼마나 시간이 들었는지도 측정합니다. 운영 측면에서는 tokens per second, p50과 p95 지연, 타임아웃, 메모리를 기록합니다. 이 지표들을 변경 유형별로 분리해야 수치 변경의 높은 성공률이 구조 변경의 실패를 가리는 일을 막을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 방법은 historical replay입니다. 과거 법령 개정 시점의 원문과 당시 코드 commit을 고정한 뒤, 검색 전략과 모델을 바꿔가며 같은 문제를 다시 풉니다. RAG 단독, 용어 사전 추가, 상수 매칭 추가, 검증 매핑 추가의 효과를 분리해 측정합니다. 8B와 14B, 4K와 16K 컨텍스트도 같은 데이터셋에서 비교합니다. 각 실행은 run_id로 묶고 입력과 출력 hash, 검색 근거, patch, 테스트 로그, 사람 판정을 저장해 재현 가능하게 만듭니다.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데이터가 쌓이면 가장 먼저 좋아지는 것은 모델 파라미터가 아니라 검색 경로입니다. 첫 시즌에는 RAG, 용어 사전, 상수 매칭으로 후보를 추정하고 담당자가 맞는 위치를 검증합니다. 다음 시즌 같은 조문이 바뀌면 검증된 파일과 심볼로 바로 갈 수 있어 검색 정확도와 속도가 동시에 개선됩니다. 승인, 거절, 골든 테스트 결과가 쌓이면 변경 유형별 threshold와 후보 랭킹을 조정할 수 있습니다. 충분한 고품질 편집쌍이 확보된 뒤에야 reranker나 선택적 fine-tuning을 검토합니다. 현재는 데이터가 없기 때문에 몇 퍼센트 좋아진다고 보장할 수 없으며, historical replay로 학습 곡선을 측정해야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 프로젝트의 완성 기준은 더 큰 모델을 붙이는 것이 아닙니다. 모든 실행을 측정할 수 있고, 같은 조건에서 재현할 수 있으며, 변경 유형에 따라 자동화 범위를 통제하고, 사람이 근거를 보고 승인할 수 있어야 합니다. 로컬 AI는 법령을 이해하고 관련 코드를 좁혀 검토 가능한 수정안을 제시합니다. 실제 반영 권한은 끝까지 시스템과 사람에게 남깁니다. 이것이 보안이 중요한 기업 환경에서 로컬 모델을 실용적으로 사용하는 방식입니다.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fee9328dbe42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f4c6ab4e4847ed" /><Relationship Type="http://schemas.openxmlformats.org/officeDocument/2006/relationships/slideLayout" Target="/ppt/slideLayouts/slideLayout1.xml" Id="Rb3b0723134e148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b0723134e148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c8796738f5460d" /><Relationship Type="http://schemas.openxmlformats.org/officeDocument/2006/relationships/notesSlide" Target="/ppt/notesSlides/notesSlide1.xml" Id="R69a9de5321d841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954ccf51804e1f" /><Relationship Type="http://schemas.openxmlformats.org/officeDocument/2006/relationships/notesSlide" Target="/ppt/notesSlides/notesSlide2.xml" Id="Rfcf3d931a85a4b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16bd5530bd4a12" /><Relationship Type="http://schemas.openxmlformats.org/officeDocument/2006/relationships/notesSlide" Target="/ppt/notesSlides/notesSlide3.xml" Id="Rad9bde24447f49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4b6b57a1e74dad" /><Relationship Type="http://schemas.openxmlformats.org/officeDocument/2006/relationships/notesSlide" Target="/ppt/notesSlides/notesSlide4.xml" Id="R5533fce7309d4b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ca2e6db32748bf" /><Relationship Type="http://schemas.openxmlformats.org/officeDocument/2006/relationships/notesSlide" Target="/ppt/notesSlides/notesSlide5.xml" Id="Rdd8d551334494f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58fff652224020" /><Relationship Type="http://schemas.openxmlformats.org/officeDocument/2006/relationships/notesSlide" Target="/ppt/notesSlides/notesSlide6.xml" Id="R7f2f571e2e2d43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1c686c9bda4e8a" /><Relationship Type="http://schemas.openxmlformats.org/officeDocument/2006/relationships/notesSlide" Target="/ppt/notesSlides/notesSlide7.xml" Id="Ra51f177d2f6643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86597fddd34304" /><Relationship Type="http://schemas.openxmlformats.org/officeDocument/2006/relationships/notesSlide" Target="/ppt/notesSlides/notesSlide8.xml" Id="Re96006c385474a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ebc609ad9248e6" /><Relationship Type="http://schemas.openxmlformats.org/officeDocument/2006/relationships/notesSlide" Target="/ppt/notesSlides/notesSlide9.xml" Id="R3053c793752841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cb03616685442c" /><Relationship Type="http://schemas.openxmlformats.org/officeDocument/2006/relationships/notesSlide" Target="/ppt/notesSlides/notesSlide10.xml" Id="R83d6eab7d0124b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8ea48ea2b54d1e" /><Relationship Type="http://schemas.openxmlformats.org/officeDocument/2006/relationships/notesSlide" Target="/ppt/notesSlides/notesSlide11.xml" Id="R901606795fec43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4EF3DD-28DD-40B7-A45F-54A85F7E6E50}"/>
              </a:ext>
            </a:extLst>
          </p:cNvPr>
          <p:cNvSpPr>
            <a:spLocks xmlns:a="http://schemas.openxmlformats.org/drawingml/2006/main" noGrp="1"/>
          </p:cNvSpPr>
          <p:nvPr/>
        </p:nvSpPr>
        <p:spPr>
          <a:xfrm xmlns:a="http://schemas.openxmlformats.org/drawingml/2006/main">
            <a:off x="400050" y="4000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REGTAX-MONITOR</a:t>
            </a:r>
          </a:p>
        </p:txBody>
      </p:sp>
      <p:sp>
        <p:nvSpPr>
          <p:cNvPr id="2" name="">
            <a:extLst xmlns:a="http://schemas.openxmlformats.org/drawingml/2006/main">
              <a:ext uri="{FF2B5EF4-FFF2-40B4-BE49-F238E27FC236}">
                <a16:creationId xmlns:a16="http://schemas.microsoft.com/office/drawing/2014/main" id="{F40F42ED-C453-4910-AEC2-E1FDD1BE7A68}"/>
              </a:ext>
            </a:extLst>
          </p:cNvPr>
          <p:cNvSpPr>
            <a:spLocks xmlns:a="http://schemas.openxmlformats.org/drawingml/2006/main" noGrp="1"/>
          </p:cNvSpPr>
          <p:nvPr/>
        </p:nvSpPr>
        <p:spPr>
          <a:xfrm xmlns:a="http://schemas.openxmlformats.org/drawingml/2006/main">
            <a:off x="400050" y="1695450"/>
            <a:ext cx="10001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350" b="1">
                <a:solidFill>
                  <a:srgbClr val="0B0D12"/>
                </a:solidFill>
                <a:latin typeface="Arial"/>
                <a:ea typeface="Arial"/>
                <a:cs typeface="Arial"/>
              </a:defRPr>
            </a:pPr>
            <a:r>
              <a:rPr sz="4350" b="1">
                <a:solidFill>
                  <a:srgbClr val="0B0D12"/>
                </a:solidFill>
                <a:latin typeface="Arial"/>
                <a:ea typeface="Arial"/>
                <a:cs typeface="Arial"/>
              </a:rPr>
              <a:t>민감한 코드를 지키면서</a:t>
            </a:r>
          </a:p>
          <a:p xmlns:a="http://schemas.openxmlformats.org/drawingml/2006/main">
            <a:pPr algn="l">
              <a:defRPr sz="4350" b="1">
                <a:solidFill>
                  <a:srgbClr val="0B0D12"/>
                </a:solidFill>
                <a:latin typeface="Arial"/>
                <a:ea typeface="Arial"/>
                <a:cs typeface="Arial"/>
              </a:defRPr>
            </a:pPr>
            <a:r>
              <a:rPr sz="4350" b="1">
                <a:solidFill>
                  <a:srgbClr val="0B0D12"/>
                </a:solidFill>
                <a:latin typeface="Arial"/>
                <a:ea typeface="Arial"/>
                <a:cs typeface="Arial"/>
              </a:rPr>
              <a:t>실제 수정까지 가는 로컬 AI 설계</a:t>
            </a:r>
          </a:p>
        </p:txBody>
      </p:sp>
      <p:sp>
        <p:nvSpPr>
          <p:cNvPr id="3" name="">
            <a:extLst xmlns:a="http://schemas.openxmlformats.org/drawingml/2006/main">
              <a:ext uri="{FF2B5EF4-FFF2-40B4-BE49-F238E27FC236}">
                <a16:creationId xmlns:a16="http://schemas.microsoft.com/office/drawing/2014/main" id="{A860690F-5571-4144-8B44-D6D7CFF94039}"/>
              </a:ext>
            </a:extLst>
          </p:cNvPr>
          <p:cNvSpPr>
            <a:spLocks xmlns:a="http://schemas.openxmlformats.org/drawingml/2006/main" noGrp="1"/>
          </p:cNvSpPr>
          <p:nvPr/>
        </p:nvSpPr>
        <p:spPr>
          <a:xfrm xmlns:a="http://schemas.openxmlformats.org/drawingml/2006/main">
            <a:off x="400050" y="440055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9616E"/>
                </a:solidFill>
                <a:latin typeface="Arial"/>
                <a:ea typeface="Arial"/>
                <a:cs typeface="Arial"/>
              </a:defRPr>
            </a:pPr>
            <a:r>
              <a:rPr sz="1875" b="0">
                <a:solidFill>
                  <a:srgbClr val="59616E"/>
                </a:solidFill>
                <a:latin typeface="Arial"/>
                <a:ea typeface="Arial"/>
                <a:cs typeface="Arial"/>
              </a:rPr>
              <a:t>API 토큰형과 로컬 모델의 선택 기준 · 성능 보완 구조 · 평가와 학습 전략</a:t>
            </a:r>
          </a:p>
        </p:txBody>
      </p:sp>
      <p:sp>
        <p:nvSpPr>
          <p:cNvPr id="4" name="">
            <a:extLst xmlns:a="http://schemas.openxmlformats.org/drawingml/2006/main">
              <a:ext uri="{FF2B5EF4-FFF2-40B4-BE49-F238E27FC236}">
                <a16:creationId xmlns:a16="http://schemas.microsoft.com/office/drawing/2014/main" id="{A12A3284-703D-4DE1-B88B-37F2B6BDA946}"/>
              </a:ext>
            </a:extLst>
          </p:cNvPr>
          <p:cNvSpPr>
            <a:spLocks xmlns:a="http://schemas.openxmlformats.org/drawingml/2006/main" noGrp="1"/>
          </p:cNvSpPr>
          <p:nvPr/>
        </p:nvSpPr>
        <p:spPr>
          <a:xfrm xmlns:a="http://schemas.openxmlformats.org/drawingml/2006/main">
            <a:off x="400050" y="5676900"/>
            <a:ext cx="113919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7BE8ABE-867B-41A3-AA4D-7F90CAF99950}"/>
              </a:ext>
            </a:extLst>
          </p:cNvPr>
          <p:cNvSpPr>
            <a:spLocks xmlns:a="http://schemas.openxmlformats.org/drawingml/2006/main" noGrp="1"/>
          </p:cNvSpPr>
          <p:nvPr/>
        </p:nvSpPr>
        <p:spPr>
          <a:xfrm xmlns:a="http://schemas.openxmlformats.org/drawingml/2006/main">
            <a:off x="400050" y="59626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a:solidFill>
                  <a:srgbClr val="59616E"/>
                </a:solidFill>
                <a:latin typeface="Arial"/>
                <a:ea typeface="Arial"/>
                <a:cs typeface="Arial"/>
              </a:defRPr>
            </a:pPr>
            <a:r>
              <a:rPr sz="1350" b="0">
                <a:solidFill>
                  <a:srgbClr val="59616E"/>
                </a:solidFill>
                <a:latin typeface="Arial"/>
                <a:ea typeface="Arial"/>
                <a:cs typeface="Arial"/>
              </a:rPr>
              <a:t>최종 목표 아키텍처 설명안  |  2026.07</a:t>
            </a:r>
          </a:p>
        </p:txBody>
      </p:sp>
    </p:spTree>
    <p:extLst>
      <p:ext uri="{BB962C8B-B14F-4D97-AF65-F5344CB8AC3E}">
        <p14:creationId xmlns:p14="http://schemas.microsoft.com/office/powerpoint/2010/main" val="172580010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5D9B33-7AE9-4BC9-98EF-4C0D4887EA9D}"/>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선택의 기준은 모델 순위가 아니라 ‘운영 가능한 위험’이다</a:t>
            </a:r>
          </a:p>
        </p:txBody>
      </p:sp>
      <p:sp>
        <p:nvSpPr>
          <p:cNvPr id="2" name="">
            <a:extLst xmlns:a="http://schemas.openxmlformats.org/drawingml/2006/main">
              <a:ext uri="{FF2B5EF4-FFF2-40B4-BE49-F238E27FC236}">
                <a16:creationId xmlns:a16="http://schemas.microsoft.com/office/drawing/2014/main" id="{43DB48FE-EE3B-4BD7-B0FF-C7078EF542E3}"/>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1132A76-0402-43C2-A221-FA4AFFC29CCC}"/>
              </a:ext>
            </a:extLst>
          </p:cNvPr>
          <p:cNvSpPr>
            <a:spLocks xmlns:a="http://schemas.openxmlformats.org/drawingml/2006/main" noGrp="1"/>
          </p:cNvSpPr>
          <p:nvPr/>
        </p:nvSpPr>
        <p:spPr>
          <a:xfrm xmlns:a="http://schemas.openxmlformats.org/drawingml/2006/main">
            <a:off x="400050" y="1543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59616E"/>
                </a:solidFill>
                <a:latin typeface="Arial"/>
                <a:ea typeface="Arial"/>
                <a:cs typeface="Arial"/>
              </a:defRPr>
            </a:pPr>
            <a:r>
              <a:rPr sz="1650" b="1">
                <a:solidFill>
                  <a:srgbClr val="59616E"/>
                </a:solidFill>
                <a:latin typeface="Arial"/>
                <a:ea typeface="Arial"/>
                <a:cs typeface="Arial"/>
              </a:rPr>
              <a:t>가장 비싼 실패</a:t>
            </a:r>
          </a:p>
        </p:txBody>
      </p:sp>
      <p:sp>
        <p:nvSpPr>
          <p:cNvPr id="4" name="">
            <a:extLst xmlns:a="http://schemas.openxmlformats.org/drawingml/2006/main">
              <a:ext uri="{FF2B5EF4-FFF2-40B4-BE49-F238E27FC236}">
                <a16:creationId xmlns:a16="http://schemas.microsoft.com/office/drawing/2014/main" id="{7D6CF5C5-1543-4B85-A24E-CF645D2164FD}"/>
              </a:ext>
            </a:extLst>
          </p:cNvPr>
          <p:cNvSpPr>
            <a:spLocks xmlns:a="http://schemas.openxmlformats.org/drawingml/2006/main" noGrp="1"/>
          </p:cNvSpPr>
          <p:nvPr/>
        </p:nvSpPr>
        <p:spPr>
          <a:xfrm xmlns:a="http://schemas.openxmlformats.org/drawingml/2006/main">
            <a:off x="400050" y="20193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3D8DFF"/>
                </a:solidFill>
                <a:latin typeface="Arial"/>
                <a:ea typeface="Arial"/>
                <a:cs typeface="Arial"/>
              </a:defRPr>
            </a:pPr>
            <a:r>
              <a:rPr sz="3600" b="1">
                <a:solidFill>
                  <a:srgbClr val="3D8DFF"/>
                </a:solidFill>
                <a:latin typeface="Arial"/>
                <a:ea typeface="Arial"/>
                <a:cs typeface="Arial"/>
              </a:rPr>
              <a:t>개정을 놓치는 것</a:t>
            </a:r>
          </a:p>
        </p:txBody>
      </p:sp>
      <p:sp>
        <p:nvSpPr>
          <p:cNvPr id="5" name="">
            <a:extLst xmlns:a="http://schemas.openxmlformats.org/drawingml/2006/main">
              <a:ext uri="{FF2B5EF4-FFF2-40B4-BE49-F238E27FC236}">
                <a16:creationId xmlns:a16="http://schemas.microsoft.com/office/drawing/2014/main" id="{812B8A43-4FC5-499F-869D-9DF543919860}"/>
              </a:ext>
            </a:extLst>
          </p:cNvPr>
          <p:cNvSpPr>
            <a:spLocks xmlns:a="http://schemas.openxmlformats.org/drawingml/2006/main" noGrp="1"/>
          </p:cNvSpPr>
          <p:nvPr/>
        </p:nvSpPr>
        <p:spPr>
          <a:xfrm xmlns:a="http://schemas.openxmlformats.org/drawingml/2006/main">
            <a:off x="400050" y="32575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59616E"/>
                </a:solidFill>
                <a:latin typeface="Arial"/>
                <a:ea typeface="Arial"/>
                <a:cs typeface="Arial"/>
              </a:defRPr>
            </a:pPr>
            <a:r>
              <a:rPr sz="1650" b="1">
                <a:solidFill>
                  <a:srgbClr val="59616E"/>
                </a:solidFill>
                <a:latin typeface="Arial"/>
                <a:ea typeface="Arial"/>
                <a:cs typeface="Arial"/>
              </a:rPr>
              <a:t>그 다음 위험</a:t>
            </a:r>
          </a:p>
        </p:txBody>
      </p:sp>
      <p:sp>
        <p:nvSpPr>
          <p:cNvPr id="6" name="">
            <a:extLst xmlns:a="http://schemas.openxmlformats.org/drawingml/2006/main">
              <a:ext uri="{FF2B5EF4-FFF2-40B4-BE49-F238E27FC236}">
                <a16:creationId xmlns:a16="http://schemas.microsoft.com/office/drawing/2014/main" id="{DE603302-E6FF-426A-9519-CD4873363464}"/>
              </a:ext>
            </a:extLst>
          </p:cNvPr>
          <p:cNvSpPr>
            <a:spLocks xmlns:a="http://schemas.openxmlformats.org/drawingml/2006/main" noGrp="1"/>
          </p:cNvSpPr>
          <p:nvPr/>
        </p:nvSpPr>
        <p:spPr>
          <a:xfrm xmlns:a="http://schemas.openxmlformats.org/drawingml/2006/main">
            <a:off x="400050" y="3733800"/>
            <a:ext cx="4095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225" b="1">
                <a:solidFill>
                  <a:srgbClr val="0B0D12"/>
                </a:solidFill>
                <a:latin typeface="Arial"/>
                <a:ea typeface="Arial"/>
                <a:cs typeface="Arial"/>
              </a:defRPr>
            </a:pPr>
            <a:r>
              <a:rPr sz="3225" b="1">
                <a:solidFill>
                  <a:srgbClr val="0B0D12"/>
                </a:solidFill>
                <a:latin typeface="Arial"/>
                <a:ea typeface="Arial"/>
                <a:cs typeface="Arial"/>
              </a:rPr>
              <a:t>잘못된 수정을</a:t>
            </a:r>
          </a:p>
          <a:p xmlns:a="http://schemas.openxmlformats.org/drawingml/2006/main">
            <a:pPr algn="l">
              <a:defRPr sz="3225" b="1">
                <a:solidFill>
                  <a:srgbClr val="0B0D12"/>
                </a:solidFill>
                <a:latin typeface="Arial"/>
                <a:ea typeface="Arial"/>
                <a:cs typeface="Arial"/>
              </a:defRPr>
            </a:pPr>
            <a:r>
              <a:rPr sz="3225" b="1">
                <a:solidFill>
                  <a:srgbClr val="0B0D12"/>
                </a:solidFill>
                <a:latin typeface="Arial"/>
                <a:ea typeface="Arial"/>
                <a:cs typeface="Arial"/>
              </a:rPr>
              <a:t>자동 반영하는 것</a:t>
            </a:r>
          </a:p>
        </p:txBody>
      </p:sp>
      <p:sp>
        <p:nvSpPr>
          <p:cNvPr id="7" name="">
            <a:extLst xmlns:a="http://schemas.openxmlformats.org/drawingml/2006/main">
              <a:ext uri="{FF2B5EF4-FFF2-40B4-BE49-F238E27FC236}">
                <a16:creationId xmlns:a16="http://schemas.microsoft.com/office/drawing/2014/main" id="{296962B2-0859-4252-9785-CFDC989F29CA}"/>
              </a:ext>
            </a:extLst>
          </p:cNvPr>
          <p:cNvSpPr>
            <a:spLocks xmlns:a="http://schemas.openxmlformats.org/drawingml/2006/main" noGrp="1"/>
          </p:cNvSpPr>
          <p:nvPr/>
        </p:nvSpPr>
        <p:spPr>
          <a:xfrm xmlns:a="http://schemas.openxmlformats.org/drawingml/2006/main">
            <a:off x="5219700" y="1428750"/>
            <a:ext cx="6572250" cy="4000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2B6050-7A02-4256-8066-8E622A56FE57}"/>
              </a:ext>
            </a:extLst>
          </p:cNvPr>
          <p:cNvSpPr>
            <a:spLocks xmlns:a="http://schemas.openxmlformats.org/drawingml/2006/main" noGrp="1"/>
          </p:cNvSpPr>
          <p:nvPr/>
        </p:nvSpPr>
        <p:spPr>
          <a:xfrm xmlns:a="http://schemas.openxmlformats.org/drawingml/2006/main">
            <a:off x="5619750" y="176212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설계 원칙</a:t>
            </a:r>
          </a:p>
        </p:txBody>
      </p:sp>
      <p:sp>
        <p:nvSpPr>
          <p:cNvPr id="9" name="">
            <a:extLst xmlns:a="http://schemas.openxmlformats.org/drawingml/2006/main">
              <a:ext uri="{FF2B5EF4-FFF2-40B4-BE49-F238E27FC236}">
                <a16:creationId xmlns:a16="http://schemas.microsoft.com/office/drawing/2014/main" id="{E64A8217-0DDE-458C-A788-11369F158201}"/>
              </a:ext>
            </a:extLst>
          </p:cNvPr>
          <p:cNvSpPr>
            <a:spLocks xmlns:a="http://schemas.openxmlformats.org/drawingml/2006/main" noGrp="1"/>
          </p:cNvSpPr>
          <p:nvPr/>
        </p:nvSpPr>
        <p:spPr>
          <a:xfrm xmlns:a="http://schemas.openxmlformats.org/drawingml/2006/main">
            <a:off x="5619750" y="2381250"/>
            <a:ext cx="542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0B0D12"/>
                </a:solidFill>
                <a:latin typeface="Arial"/>
                <a:ea typeface="Arial"/>
                <a:cs typeface="Arial"/>
              </a:defRPr>
            </a:pPr>
            <a:r>
              <a:rPr sz="1725" b="0">
                <a:solidFill>
                  <a:srgbClr val="0B0D12"/>
                </a:solidFill>
                <a:latin typeface="Arial"/>
                <a:ea typeface="Arial"/>
                <a:cs typeface="Arial"/>
              </a:rPr>
              <a:t>• 수집·감지는 재현율 우선</a:t>
            </a:r>
          </a:p>
        </p:txBody>
      </p:sp>
      <p:sp>
        <p:nvSpPr>
          <p:cNvPr id="10" name="">
            <a:extLst xmlns:a="http://schemas.openxmlformats.org/drawingml/2006/main">
              <a:ext uri="{FF2B5EF4-FFF2-40B4-BE49-F238E27FC236}">
                <a16:creationId xmlns:a16="http://schemas.microsoft.com/office/drawing/2014/main" id="{26FBEF15-4CB6-4D34-9A56-60BF98807AE6}"/>
              </a:ext>
            </a:extLst>
          </p:cNvPr>
          <p:cNvSpPr>
            <a:spLocks xmlns:a="http://schemas.openxmlformats.org/drawingml/2006/main" noGrp="1"/>
          </p:cNvSpPr>
          <p:nvPr/>
        </p:nvSpPr>
        <p:spPr>
          <a:xfrm xmlns:a="http://schemas.openxmlformats.org/drawingml/2006/main">
            <a:off x="5619750" y="3000375"/>
            <a:ext cx="542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0B0D12"/>
                </a:solidFill>
                <a:latin typeface="Arial"/>
                <a:ea typeface="Arial"/>
                <a:cs typeface="Arial"/>
              </a:defRPr>
            </a:pPr>
            <a:r>
              <a:rPr sz="1725" b="0">
                <a:solidFill>
                  <a:srgbClr val="0B0D12"/>
                </a:solidFill>
                <a:latin typeface="Arial"/>
                <a:ea typeface="Arial"/>
                <a:cs typeface="Arial"/>
              </a:rPr>
              <a:t>• 코드·임베딩·생성은 기본적으로 로컬</a:t>
            </a:r>
          </a:p>
        </p:txBody>
      </p:sp>
      <p:sp>
        <p:nvSpPr>
          <p:cNvPr id="11" name="">
            <a:extLst xmlns:a="http://schemas.openxmlformats.org/drawingml/2006/main">
              <a:ext uri="{FF2B5EF4-FFF2-40B4-BE49-F238E27FC236}">
                <a16:creationId xmlns:a16="http://schemas.microsoft.com/office/drawing/2014/main" id="{B07AC8C4-D27F-49C3-B6CE-1C08B08AEEB7}"/>
              </a:ext>
            </a:extLst>
          </p:cNvPr>
          <p:cNvSpPr>
            <a:spLocks xmlns:a="http://schemas.openxmlformats.org/drawingml/2006/main" noGrp="1"/>
          </p:cNvSpPr>
          <p:nvPr/>
        </p:nvSpPr>
        <p:spPr>
          <a:xfrm xmlns:a="http://schemas.openxmlformats.org/drawingml/2006/main">
            <a:off x="5619750" y="3619500"/>
            <a:ext cx="542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0B0D12"/>
                </a:solidFill>
                <a:latin typeface="Arial"/>
                <a:ea typeface="Arial"/>
                <a:cs typeface="Arial"/>
              </a:defRPr>
            </a:pPr>
            <a:r>
              <a:rPr sz="1725" b="0">
                <a:solidFill>
                  <a:srgbClr val="0B0D12"/>
                </a:solidFill>
                <a:latin typeface="Arial"/>
                <a:ea typeface="Arial"/>
                <a:cs typeface="Arial"/>
              </a:rPr>
              <a:t>• AI는 의미 해석과 수정 초안까지만</a:t>
            </a:r>
          </a:p>
        </p:txBody>
      </p:sp>
      <p:sp>
        <p:nvSpPr>
          <p:cNvPr id="12" name="">
            <a:extLst xmlns:a="http://schemas.openxmlformats.org/drawingml/2006/main">
              <a:ext uri="{FF2B5EF4-FFF2-40B4-BE49-F238E27FC236}">
                <a16:creationId xmlns:a16="http://schemas.microsoft.com/office/drawing/2014/main" id="{54022012-226A-44AA-BF05-8AE1E58AC336}"/>
              </a:ext>
            </a:extLst>
          </p:cNvPr>
          <p:cNvSpPr>
            <a:spLocks xmlns:a="http://schemas.openxmlformats.org/drawingml/2006/main" noGrp="1"/>
          </p:cNvSpPr>
          <p:nvPr/>
        </p:nvSpPr>
        <p:spPr>
          <a:xfrm xmlns:a="http://schemas.openxmlformats.org/drawingml/2006/main">
            <a:off x="5619750" y="4238625"/>
            <a:ext cx="542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0B0D12"/>
                </a:solidFill>
                <a:latin typeface="Arial"/>
                <a:ea typeface="Arial"/>
                <a:cs typeface="Arial"/>
              </a:defRPr>
            </a:pPr>
            <a:r>
              <a:rPr sz="1725" b="0">
                <a:solidFill>
                  <a:srgbClr val="0B0D12"/>
                </a:solidFill>
                <a:latin typeface="Arial"/>
                <a:ea typeface="Arial"/>
                <a:cs typeface="Arial"/>
              </a:rPr>
              <a:t>• 검증과 실제 반영은 코드와 사람이 통제</a:t>
            </a:r>
          </a:p>
        </p:txBody>
      </p:sp>
      <p:sp>
        <p:nvSpPr>
          <p:cNvPr id="13" name="">
            <a:extLst xmlns:a="http://schemas.openxmlformats.org/drawingml/2006/main">
              <a:ext uri="{FF2B5EF4-FFF2-40B4-BE49-F238E27FC236}">
                <a16:creationId xmlns:a16="http://schemas.microsoft.com/office/drawing/2014/main" id="{51133D5E-AEF6-4851-A2EB-3B811F08627F}"/>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근거: docs/architecture/ADR.md · docs/product/PRD.md</a:t>
            </a:r>
          </a:p>
        </p:txBody>
      </p:sp>
    </p:spTree>
    <p:extLst>
      <p:ext uri="{BB962C8B-B14F-4D97-AF65-F5344CB8AC3E}">
        <p14:creationId xmlns:p14="http://schemas.microsoft.com/office/powerpoint/2010/main" val="5611476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DED31A-F8D0-49A3-A490-A666E87D87CE}"/>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API형은 즉시 높은 품질, 로컬형은 통제권과 내부 자산화를 준다</a:t>
            </a:r>
          </a:p>
        </p:txBody>
      </p:sp>
      <p:sp>
        <p:nvSpPr>
          <p:cNvPr id="2" name="">
            <a:extLst xmlns:a="http://schemas.openxmlformats.org/drawingml/2006/main">
              <a:ext uri="{FF2B5EF4-FFF2-40B4-BE49-F238E27FC236}">
                <a16:creationId xmlns:a16="http://schemas.microsoft.com/office/drawing/2014/main" id="{710C358E-D462-4337-9129-782E7293D867}"/>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CC22E57-3209-45FD-8706-0EEC6F24D6D5}"/>
              </a:ext>
            </a:extLst>
          </p:cNvPr>
          <p:cNvSpPr>
            <a:spLocks xmlns:a="http://schemas.openxmlformats.org/drawingml/2006/main" noGrp="1"/>
          </p:cNvSpPr>
          <p:nvPr/>
        </p:nvSpPr>
        <p:spPr>
          <a:xfrm xmlns:a="http://schemas.openxmlformats.org/drawingml/2006/main">
            <a:off x="400050" y="1381125"/>
            <a:ext cx="3429000" cy="4362450"/>
          </a:xfrm>
          <a:prstGeom xmlns:a="http://schemas.openxmlformats.org/drawingml/2006/main" prst="rect">
            <a:avLst/>
          </a:prstGeom>
          <a:solidFill xmlns:a="http://schemas.openxmlformats.org/drawingml/2006/main">
            <a:srgbClr val="0B0D1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1E18DB-CE26-4C0C-B0E4-B5B5CB2D0DE4}"/>
              </a:ext>
            </a:extLst>
          </p:cNvPr>
          <p:cNvSpPr>
            <a:spLocks xmlns:a="http://schemas.openxmlformats.org/drawingml/2006/main" noGrp="1"/>
          </p:cNvSpPr>
          <p:nvPr/>
        </p:nvSpPr>
        <p:spPr>
          <a:xfrm xmlns:a="http://schemas.openxmlformats.org/drawingml/2006/main">
            <a:off x="609600" y="1619250"/>
            <a:ext cx="3009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비교 기준</a:t>
            </a:r>
          </a:p>
        </p:txBody>
      </p:sp>
      <p:sp>
        <p:nvSpPr>
          <p:cNvPr id="5" name="">
            <a:extLst xmlns:a="http://schemas.openxmlformats.org/drawingml/2006/main">
              <a:ext uri="{FF2B5EF4-FFF2-40B4-BE49-F238E27FC236}">
                <a16:creationId xmlns:a16="http://schemas.microsoft.com/office/drawing/2014/main" id="{63D37475-080F-478C-BD6F-918A9D6CA325}"/>
              </a:ext>
            </a:extLst>
          </p:cNvPr>
          <p:cNvSpPr>
            <a:spLocks xmlns:a="http://schemas.openxmlformats.org/drawingml/2006/main" noGrp="1"/>
          </p:cNvSpPr>
          <p:nvPr/>
        </p:nvSpPr>
        <p:spPr>
          <a:xfrm xmlns:a="http://schemas.openxmlformats.org/drawingml/2006/main">
            <a:off x="4143375" y="1381125"/>
            <a:ext cx="3495675" cy="436245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206E75-0930-45BB-9533-8699C207FC02}"/>
              </a:ext>
            </a:extLst>
          </p:cNvPr>
          <p:cNvSpPr>
            <a:spLocks xmlns:a="http://schemas.openxmlformats.org/drawingml/2006/main" noGrp="1"/>
          </p:cNvSpPr>
          <p:nvPr/>
        </p:nvSpPr>
        <p:spPr>
          <a:xfrm xmlns:a="http://schemas.openxmlformats.org/drawingml/2006/main">
            <a:off x="4352925" y="1619250"/>
            <a:ext cx="30765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2"/>
                </a:solidFill>
                <a:latin typeface="Arial"/>
                <a:ea typeface="Arial"/>
                <a:cs typeface="Arial"/>
              </a:defRPr>
            </a:pPr>
            <a:r>
              <a:rPr sz="1725" b="1">
                <a:solidFill>
                  <a:srgbClr val="0B0D12"/>
                </a:solidFill>
                <a:latin typeface="Arial"/>
                <a:ea typeface="Arial"/>
                <a:cs typeface="Arial"/>
              </a:rPr>
              <a:t>API 토큰 방식</a:t>
            </a:r>
          </a:p>
        </p:txBody>
      </p:sp>
      <p:sp>
        <p:nvSpPr>
          <p:cNvPr id="7" name="">
            <a:extLst xmlns:a="http://schemas.openxmlformats.org/drawingml/2006/main">
              <a:ext uri="{FF2B5EF4-FFF2-40B4-BE49-F238E27FC236}">
                <a16:creationId xmlns:a16="http://schemas.microsoft.com/office/drawing/2014/main" id="{150B80B1-20E4-4E26-9E24-DBDC79B106EB}"/>
              </a:ext>
            </a:extLst>
          </p:cNvPr>
          <p:cNvSpPr>
            <a:spLocks xmlns:a="http://schemas.openxmlformats.org/drawingml/2006/main" noGrp="1"/>
          </p:cNvSpPr>
          <p:nvPr/>
        </p:nvSpPr>
        <p:spPr>
          <a:xfrm xmlns:a="http://schemas.openxmlformats.org/drawingml/2006/main">
            <a:off x="7886700" y="1381125"/>
            <a:ext cx="3495675" cy="43624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5EDAD43-8AB4-46EB-A4FB-80DF936A1EE0}"/>
              </a:ext>
            </a:extLst>
          </p:cNvPr>
          <p:cNvSpPr>
            <a:spLocks xmlns:a="http://schemas.openxmlformats.org/drawingml/2006/main" noGrp="1"/>
          </p:cNvSpPr>
          <p:nvPr/>
        </p:nvSpPr>
        <p:spPr>
          <a:xfrm xmlns:a="http://schemas.openxmlformats.org/drawingml/2006/main">
            <a:off x="8096250" y="1619250"/>
            <a:ext cx="30765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2"/>
                </a:solidFill>
                <a:latin typeface="Arial"/>
                <a:ea typeface="Arial"/>
                <a:cs typeface="Arial"/>
              </a:defRPr>
            </a:pPr>
            <a:r>
              <a:rPr sz="1725" b="1">
                <a:solidFill>
                  <a:srgbClr val="0B0D12"/>
                </a:solidFill>
                <a:latin typeface="Arial"/>
                <a:ea typeface="Arial"/>
                <a:cs typeface="Arial"/>
              </a:rPr>
              <a:t>로컬 모델 구축</a:t>
            </a:r>
          </a:p>
        </p:txBody>
      </p:sp>
      <p:sp>
        <p:nvSpPr>
          <p:cNvPr id="9" name="">
            <a:extLst xmlns:a="http://schemas.openxmlformats.org/drawingml/2006/main">
              <a:ext uri="{FF2B5EF4-FFF2-40B4-BE49-F238E27FC236}">
                <a16:creationId xmlns:a16="http://schemas.microsoft.com/office/drawing/2014/main" id="{B65FFD7B-D471-4FE9-899E-F4CC41B178CE}"/>
              </a:ext>
            </a:extLst>
          </p:cNvPr>
          <p:cNvSpPr>
            <a:spLocks xmlns:a="http://schemas.openxmlformats.org/drawingml/2006/main" noGrp="1"/>
          </p:cNvSpPr>
          <p:nvPr/>
        </p:nvSpPr>
        <p:spPr>
          <a:xfrm xmlns:a="http://schemas.openxmlformats.org/drawingml/2006/main">
            <a:off x="609600" y="217170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시작 속도</a:t>
            </a:r>
          </a:p>
        </p:txBody>
      </p:sp>
      <p:sp>
        <p:nvSpPr>
          <p:cNvPr id="10" name="">
            <a:extLst xmlns:a="http://schemas.openxmlformats.org/drawingml/2006/main">
              <a:ext uri="{FF2B5EF4-FFF2-40B4-BE49-F238E27FC236}">
                <a16:creationId xmlns:a16="http://schemas.microsoft.com/office/drawing/2014/main" id="{851886ED-95BB-423D-B5A2-8BE75ABADD6B}"/>
              </a:ext>
            </a:extLst>
          </p:cNvPr>
          <p:cNvSpPr>
            <a:spLocks xmlns:a="http://schemas.openxmlformats.org/drawingml/2006/main" noGrp="1"/>
          </p:cNvSpPr>
          <p:nvPr/>
        </p:nvSpPr>
        <p:spPr>
          <a:xfrm xmlns:a="http://schemas.openxmlformats.org/drawingml/2006/main">
            <a:off x="4352925" y="217170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API 키로 즉시 사용</a:t>
            </a:r>
          </a:p>
        </p:txBody>
      </p:sp>
      <p:sp>
        <p:nvSpPr>
          <p:cNvPr id="11" name="">
            <a:extLst xmlns:a="http://schemas.openxmlformats.org/drawingml/2006/main">
              <a:ext uri="{FF2B5EF4-FFF2-40B4-BE49-F238E27FC236}">
                <a16:creationId xmlns:a16="http://schemas.microsoft.com/office/drawing/2014/main" id="{43649B56-CC1A-47E1-9733-BDA461D854C7}"/>
              </a:ext>
            </a:extLst>
          </p:cNvPr>
          <p:cNvSpPr>
            <a:spLocks xmlns:a="http://schemas.openxmlformats.org/drawingml/2006/main" noGrp="1"/>
          </p:cNvSpPr>
          <p:nvPr/>
        </p:nvSpPr>
        <p:spPr>
          <a:xfrm xmlns:a="http://schemas.openxmlformats.org/drawingml/2006/main">
            <a:off x="8096250" y="217170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서버·모델·인덱스 준비</a:t>
            </a:r>
          </a:p>
        </p:txBody>
      </p:sp>
      <p:sp>
        <p:nvSpPr>
          <p:cNvPr id="12" name="">
            <a:extLst xmlns:a="http://schemas.openxmlformats.org/drawingml/2006/main">
              <a:ext uri="{FF2B5EF4-FFF2-40B4-BE49-F238E27FC236}">
                <a16:creationId xmlns:a16="http://schemas.microsoft.com/office/drawing/2014/main" id="{B28F439E-D2F1-405A-BA64-EB293A78913D}"/>
              </a:ext>
            </a:extLst>
          </p:cNvPr>
          <p:cNvSpPr>
            <a:spLocks xmlns:a="http://schemas.openxmlformats.org/drawingml/2006/main" noGrp="1"/>
          </p:cNvSpPr>
          <p:nvPr/>
        </p:nvSpPr>
        <p:spPr>
          <a:xfrm xmlns:a="http://schemas.openxmlformats.org/drawingml/2006/main">
            <a:off x="609600" y="27241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코드 보안</a:t>
            </a:r>
          </a:p>
        </p:txBody>
      </p:sp>
      <p:sp>
        <p:nvSpPr>
          <p:cNvPr id="13" name="">
            <a:extLst xmlns:a="http://schemas.openxmlformats.org/drawingml/2006/main">
              <a:ext uri="{FF2B5EF4-FFF2-40B4-BE49-F238E27FC236}">
                <a16:creationId xmlns:a16="http://schemas.microsoft.com/office/drawing/2014/main" id="{40D5A26B-B2F9-4196-9351-29688D383FC6}"/>
              </a:ext>
            </a:extLst>
          </p:cNvPr>
          <p:cNvSpPr>
            <a:spLocks xmlns:a="http://schemas.openxmlformats.org/drawingml/2006/main" noGrp="1"/>
          </p:cNvSpPr>
          <p:nvPr/>
        </p:nvSpPr>
        <p:spPr>
          <a:xfrm xmlns:a="http://schemas.openxmlformats.org/drawingml/2006/main">
            <a:off x="4352925" y="272415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스니펫 외부 전송 검토 필요</a:t>
            </a:r>
          </a:p>
        </p:txBody>
      </p:sp>
      <p:sp>
        <p:nvSpPr>
          <p:cNvPr id="14" name="">
            <a:extLst xmlns:a="http://schemas.openxmlformats.org/drawingml/2006/main">
              <a:ext uri="{FF2B5EF4-FFF2-40B4-BE49-F238E27FC236}">
                <a16:creationId xmlns:a16="http://schemas.microsoft.com/office/drawing/2014/main" id="{7FE9E1E0-7E81-415F-80C5-1DEFAF4F3059}"/>
              </a:ext>
            </a:extLst>
          </p:cNvPr>
          <p:cNvSpPr>
            <a:spLocks xmlns:a="http://schemas.openxmlformats.org/drawingml/2006/main" noGrp="1"/>
          </p:cNvSpPr>
          <p:nvPr/>
        </p:nvSpPr>
        <p:spPr>
          <a:xfrm xmlns:a="http://schemas.openxmlformats.org/drawingml/2006/main">
            <a:off x="8096250" y="272415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코드가 사내 경계를 벗어나지 않음</a:t>
            </a:r>
          </a:p>
        </p:txBody>
      </p:sp>
      <p:sp>
        <p:nvSpPr>
          <p:cNvPr id="15" name="">
            <a:extLst xmlns:a="http://schemas.openxmlformats.org/drawingml/2006/main">
              <a:ext uri="{FF2B5EF4-FFF2-40B4-BE49-F238E27FC236}">
                <a16:creationId xmlns:a16="http://schemas.microsoft.com/office/drawing/2014/main" id="{DD3D7D54-9F13-4919-BD71-4044145ED196}"/>
              </a:ext>
            </a:extLst>
          </p:cNvPr>
          <p:cNvSpPr>
            <a:spLocks xmlns:a="http://schemas.openxmlformats.org/drawingml/2006/main" noGrp="1"/>
          </p:cNvSpPr>
          <p:nvPr/>
        </p:nvSpPr>
        <p:spPr>
          <a:xfrm xmlns:a="http://schemas.openxmlformats.org/drawingml/2006/main">
            <a:off x="609600" y="327660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초기 품질</a:t>
            </a:r>
          </a:p>
        </p:txBody>
      </p:sp>
      <p:sp>
        <p:nvSpPr>
          <p:cNvPr id="16" name="">
            <a:extLst xmlns:a="http://schemas.openxmlformats.org/drawingml/2006/main">
              <a:ext uri="{FF2B5EF4-FFF2-40B4-BE49-F238E27FC236}">
                <a16:creationId xmlns:a16="http://schemas.microsoft.com/office/drawing/2014/main" id="{32D8C57C-E7A9-40E5-B892-AB0BDB0251AC}"/>
              </a:ext>
            </a:extLst>
          </p:cNvPr>
          <p:cNvSpPr>
            <a:spLocks xmlns:a="http://schemas.openxmlformats.org/drawingml/2006/main" noGrp="1"/>
          </p:cNvSpPr>
          <p:nvPr/>
        </p:nvSpPr>
        <p:spPr>
          <a:xfrm xmlns:a="http://schemas.openxmlformats.org/drawingml/2006/main">
            <a:off x="4352925" y="327660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대형 모델 우위</a:t>
            </a:r>
          </a:p>
        </p:txBody>
      </p:sp>
      <p:sp>
        <p:nvSpPr>
          <p:cNvPr id="17" name="">
            <a:extLst xmlns:a="http://schemas.openxmlformats.org/drawingml/2006/main">
              <a:ext uri="{FF2B5EF4-FFF2-40B4-BE49-F238E27FC236}">
                <a16:creationId xmlns:a16="http://schemas.microsoft.com/office/drawing/2014/main" id="{744B7FF4-5AA7-4E94-8EBF-F358B9CEE3BA}"/>
              </a:ext>
            </a:extLst>
          </p:cNvPr>
          <p:cNvSpPr>
            <a:spLocks xmlns:a="http://schemas.openxmlformats.org/drawingml/2006/main" noGrp="1"/>
          </p:cNvSpPr>
          <p:nvPr/>
        </p:nvSpPr>
        <p:spPr>
          <a:xfrm xmlns:a="http://schemas.openxmlformats.org/drawingml/2006/main">
            <a:off x="8096250" y="327660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8B급은 복잡한 추론에 한계</a:t>
            </a:r>
          </a:p>
        </p:txBody>
      </p:sp>
      <p:sp>
        <p:nvSpPr>
          <p:cNvPr id="18" name="">
            <a:extLst xmlns:a="http://schemas.openxmlformats.org/drawingml/2006/main">
              <a:ext uri="{FF2B5EF4-FFF2-40B4-BE49-F238E27FC236}">
                <a16:creationId xmlns:a16="http://schemas.microsoft.com/office/drawing/2014/main" id="{46151D6A-16D0-4AEE-8EBF-39EB97D8C5A5}"/>
              </a:ext>
            </a:extLst>
          </p:cNvPr>
          <p:cNvSpPr>
            <a:spLocks xmlns:a="http://schemas.openxmlformats.org/drawingml/2006/main" noGrp="1"/>
          </p:cNvSpPr>
          <p:nvPr/>
        </p:nvSpPr>
        <p:spPr>
          <a:xfrm xmlns:a="http://schemas.openxmlformats.org/drawingml/2006/main">
            <a:off x="609600" y="38290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비용 구조</a:t>
            </a:r>
          </a:p>
        </p:txBody>
      </p:sp>
      <p:sp>
        <p:nvSpPr>
          <p:cNvPr id="19" name="">
            <a:extLst xmlns:a="http://schemas.openxmlformats.org/drawingml/2006/main">
              <a:ext uri="{FF2B5EF4-FFF2-40B4-BE49-F238E27FC236}">
                <a16:creationId xmlns:a16="http://schemas.microsoft.com/office/drawing/2014/main" id="{9FEF2021-7111-4591-B1B1-C30203D0EF25}"/>
              </a:ext>
            </a:extLst>
          </p:cNvPr>
          <p:cNvSpPr>
            <a:spLocks xmlns:a="http://schemas.openxmlformats.org/drawingml/2006/main" noGrp="1"/>
          </p:cNvSpPr>
          <p:nvPr/>
        </p:nvSpPr>
        <p:spPr>
          <a:xfrm xmlns:a="http://schemas.openxmlformats.org/drawingml/2006/main">
            <a:off x="4352925" y="382905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사용량에 비례한 토큰 비용</a:t>
            </a:r>
          </a:p>
        </p:txBody>
      </p:sp>
      <p:sp>
        <p:nvSpPr>
          <p:cNvPr id="20" name="">
            <a:extLst xmlns:a="http://schemas.openxmlformats.org/drawingml/2006/main">
              <a:ext uri="{FF2B5EF4-FFF2-40B4-BE49-F238E27FC236}">
                <a16:creationId xmlns:a16="http://schemas.microsoft.com/office/drawing/2014/main" id="{C8E27830-67BE-4FF0-9DDE-388B84478006}"/>
              </a:ext>
            </a:extLst>
          </p:cNvPr>
          <p:cNvSpPr>
            <a:spLocks xmlns:a="http://schemas.openxmlformats.org/drawingml/2006/main" noGrp="1"/>
          </p:cNvSpPr>
          <p:nvPr/>
        </p:nvSpPr>
        <p:spPr>
          <a:xfrm xmlns:a="http://schemas.openxmlformats.org/drawingml/2006/main">
            <a:off x="8096250" y="382905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초기 장비·운영비, 반복 비용 낮음</a:t>
            </a:r>
          </a:p>
        </p:txBody>
      </p:sp>
      <p:sp>
        <p:nvSpPr>
          <p:cNvPr id="21" name="">
            <a:extLst xmlns:a="http://schemas.openxmlformats.org/drawingml/2006/main">
              <a:ext uri="{FF2B5EF4-FFF2-40B4-BE49-F238E27FC236}">
                <a16:creationId xmlns:a16="http://schemas.microsoft.com/office/drawing/2014/main" id="{38177EC4-0856-42B9-8FE5-5A2B0292A84B}"/>
              </a:ext>
            </a:extLst>
          </p:cNvPr>
          <p:cNvSpPr>
            <a:spLocks xmlns:a="http://schemas.openxmlformats.org/drawingml/2006/main" noGrp="1"/>
          </p:cNvSpPr>
          <p:nvPr/>
        </p:nvSpPr>
        <p:spPr>
          <a:xfrm xmlns:a="http://schemas.openxmlformats.org/drawingml/2006/main">
            <a:off x="609600" y="438150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지연시간</a:t>
            </a:r>
          </a:p>
        </p:txBody>
      </p:sp>
      <p:sp>
        <p:nvSpPr>
          <p:cNvPr id="22" name="">
            <a:extLst xmlns:a="http://schemas.openxmlformats.org/drawingml/2006/main">
              <a:ext uri="{FF2B5EF4-FFF2-40B4-BE49-F238E27FC236}">
                <a16:creationId xmlns:a16="http://schemas.microsoft.com/office/drawing/2014/main" id="{86F344B2-68F1-4D31-97CF-5BC7D255CC4B}"/>
              </a:ext>
            </a:extLst>
          </p:cNvPr>
          <p:cNvSpPr>
            <a:spLocks xmlns:a="http://schemas.openxmlformats.org/drawingml/2006/main" noGrp="1"/>
          </p:cNvSpPr>
          <p:nvPr/>
        </p:nvSpPr>
        <p:spPr>
          <a:xfrm xmlns:a="http://schemas.openxmlformats.org/drawingml/2006/main">
            <a:off x="4352925" y="438150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네트워크+API, 비교적 빠름</a:t>
            </a:r>
          </a:p>
        </p:txBody>
      </p:sp>
      <p:sp>
        <p:nvSpPr>
          <p:cNvPr id="23" name="">
            <a:extLst xmlns:a="http://schemas.openxmlformats.org/drawingml/2006/main">
              <a:ext uri="{FF2B5EF4-FFF2-40B4-BE49-F238E27FC236}">
                <a16:creationId xmlns:a16="http://schemas.microsoft.com/office/drawing/2014/main" id="{46F5E247-E768-450E-AD94-5B9B4D0C87E7}"/>
              </a:ext>
            </a:extLst>
          </p:cNvPr>
          <p:cNvSpPr>
            <a:spLocks xmlns:a="http://schemas.openxmlformats.org/drawingml/2006/main" noGrp="1"/>
          </p:cNvSpPr>
          <p:nvPr/>
        </p:nvSpPr>
        <p:spPr>
          <a:xfrm xmlns:a="http://schemas.openxmlformats.org/drawingml/2006/main">
            <a:off x="8096250" y="438150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CPU 수 분; GPU로 개선 가능</a:t>
            </a:r>
          </a:p>
        </p:txBody>
      </p:sp>
      <p:sp>
        <p:nvSpPr>
          <p:cNvPr id="24" name="">
            <a:extLst xmlns:a="http://schemas.openxmlformats.org/drawingml/2006/main">
              <a:ext uri="{FF2B5EF4-FFF2-40B4-BE49-F238E27FC236}">
                <a16:creationId xmlns:a16="http://schemas.microsoft.com/office/drawing/2014/main" id="{0E47B017-E0CA-46B6-A9A4-D0FDD9FBA04E}"/>
              </a:ext>
            </a:extLst>
          </p:cNvPr>
          <p:cNvSpPr>
            <a:spLocks xmlns:a="http://schemas.openxmlformats.org/drawingml/2006/main" noGrp="1"/>
          </p:cNvSpPr>
          <p:nvPr/>
        </p:nvSpPr>
        <p:spPr>
          <a:xfrm xmlns:a="http://schemas.openxmlformats.org/drawingml/2006/main">
            <a:off x="609600" y="49339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통제·재현성</a:t>
            </a:r>
          </a:p>
        </p:txBody>
      </p:sp>
      <p:sp>
        <p:nvSpPr>
          <p:cNvPr id="25" name="">
            <a:extLst xmlns:a="http://schemas.openxmlformats.org/drawingml/2006/main">
              <a:ext uri="{FF2B5EF4-FFF2-40B4-BE49-F238E27FC236}">
                <a16:creationId xmlns:a16="http://schemas.microsoft.com/office/drawing/2014/main" id="{2A062C2D-BB2B-46D8-8E67-C0EF509FE224}"/>
              </a:ext>
            </a:extLst>
          </p:cNvPr>
          <p:cNvSpPr>
            <a:spLocks xmlns:a="http://schemas.openxmlformats.org/drawingml/2006/main" noGrp="1"/>
          </p:cNvSpPr>
          <p:nvPr/>
        </p:nvSpPr>
        <p:spPr>
          <a:xfrm xmlns:a="http://schemas.openxmlformats.org/drawingml/2006/main">
            <a:off x="4352925" y="493395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모델 버전 변화 영향</a:t>
            </a:r>
          </a:p>
        </p:txBody>
      </p:sp>
      <p:sp>
        <p:nvSpPr>
          <p:cNvPr id="26" name="">
            <a:extLst xmlns:a="http://schemas.openxmlformats.org/drawingml/2006/main">
              <a:ext uri="{FF2B5EF4-FFF2-40B4-BE49-F238E27FC236}">
                <a16:creationId xmlns:a16="http://schemas.microsoft.com/office/drawing/2014/main" id="{86183218-E6F0-4332-97B4-B5FBB0F9C635}"/>
              </a:ext>
            </a:extLst>
          </p:cNvPr>
          <p:cNvSpPr>
            <a:spLocks xmlns:a="http://schemas.openxmlformats.org/drawingml/2006/main" noGrp="1"/>
          </p:cNvSpPr>
          <p:nvPr/>
        </p:nvSpPr>
        <p:spPr>
          <a:xfrm xmlns:a="http://schemas.openxmlformats.org/drawingml/2006/main">
            <a:off x="8096250" y="4933950"/>
            <a:ext cx="30765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0B0D12"/>
                </a:solidFill>
                <a:latin typeface="Arial"/>
                <a:ea typeface="Arial"/>
                <a:cs typeface="Arial"/>
              </a:defRPr>
            </a:pPr>
            <a:r>
              <a:rPr sz="1275" b="0">
                <a:solidFill>
                  <a:srgbClr val="0B0D12"/>
                </a:solidFill>
                <a:latin typeface="Arial"/>
                <a:ea typeface="Arial"/>
                <a:cs typeface="Arial"/>
              </a:rPr>
              <a:t>모델·프롬프트·데이터 고정 가능</a:t>
            </a:r>
          </a:p>
        </p:txBody>
      </p:sp>
      <p:sp>
        <p:nvSpPr>
          <p:cNvPr id="27" name="">
            <a:extLst xmlns:a="http://schemas.openxmlformats.org/drawingml/2006/main">
              <a:ext uri="{FF2B5EF4-FFF2-40B4-BE49-F238E27FC236}">
                <a16:creationId xmlns:a16="http://schemas.microsoft.com/office/drawing/2014/main" id="{FBE0CB19-5486-4277-A2FD-6B84E37A5ACE}"/>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결론: 보안 민감도가 낮고 빠른 PoC면 API형, 내부 코드와 반복 운영이 핵심이면 로컬형</a:t>
            </a:r>
          </a:p>
        </p:txBody>
      </p:sp>
    </p:spTree>
    <p:extLst>
      <p:ext uri="{BB962C8B-B14F-4D97-AF65-F5344CB8AC3E}">
        <p14:creationId xmlns:p14="http://schemas.microsoft.com/office/powerpoint/2010/main" val="48450143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1CEDF6-FDC6-4A8E-9AB6-31D9346FB791}"/>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모델을 ‘자유로운 에이전트’가 아니라 제한된 편집 엔진으로 사용한다</a:t>
            </a:r>
          </a:p>
        </p:txBody>
      </p:sp>
      <p:sp>
        <p:nvSpPr>
          <p:cNvPr id="2" name="">
            <a:extLst xmlns:a="http://schemas.openxmlformats.org/drawingml/2006/main">
              <a:ext uri="{FF2B5EF4-FFF2-40B4-BE49-F238E27FC236}">
                <a16:creationId xmlns:a16="http://schemas.microsoft.com/office/drawing/2014/main" id="{BDB4D7AC-AA7B-4314-B84B-ABEB7CAC1BCB}"/>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6D18C02-E3C3-4F0D-AA52-78F2B6E138B5}"/>
              </a:ext>
            </a:extLst>
          </p:cNvPr>
          <p:cNvSpPr>
            <a:spLocks xmlns:a="http://schemas.openxmlformats.org/drawingml/2006/main" noGrp="1"/>
          </p:cNvSpPr>
          <p:nvPr/>
        </p:nvSpPr>
        <p:spPr>
          <a:xfrm xmlns:a="http://schemas.openxmlformats.org/drawingml/2006/main">
            <a:off x="1981200" y="3000375"/>
            <a:ext cx="304800" cy="3810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F1153D-2EA9-4521-B5B3-149123E29395}"/>
              </a:ext>
            </a:extLst>
          </p:cNvPr>
          <p:cNvSpPr>
            <a:spLocks xmlns:a="http://schemas.openxmlformats.org/drawingml/2006/main" noGrp="1"/>
          </p:cNvSpPr>
          <p:nvPr/>
        </p:nvSpPr>
        <p:spPr>
          <a:xfrm xmlns:a="http://schemas.openxmlformats.org/drawingml/2006/main">
            <a:off x="400050" y="2381250"/>
            <a:ext cx="1581150" cy="1333500"/>
          </a:xfrm>
          <a:prstGeom xmlns:a="http://schemas.openxmlformats.org/drawingml/2006/main" prst="roundRect">
            <a:avLst>
              <a:gd name="adj" fmla="val 5714"/>
            </a:avLst>
          </a:prstGeom>
          <a:solidFill xmlns:a="http://schemas.openxmlformats.org/drawingml/2006/main">
            <a:srgbClr val="F1F3F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EC49FF-FC5B-44B9-B7CA-1514EDDB392D}"/>
              </a:ext>
            </a:extLst>
          </p:cNvPr>
          <p:cNvSpPr>
            <a:spLocks xmlns:a="http://schemas.openxmlformats.org/drawingml/2006/main" noGrp="1"/>
          </p:cNvSpPr>
          <p:nvPr/>
        </p:nvSpPr>
        <p:spPr>
          <a:xfrm xmlns:a="http://schemas.openxmlformats.org/drawingml/2006/main">
            <a:off x="514350" y="2638425"/>
            <a:ext cx="1352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법령 수집</a:t>
            </a:r>
          </a:p>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 정규화</a:t>
            </a:r>
          </a:p>
        </p:txBody>
      </p:sp>
      <p:sp>
        <p:nvSpPr>
          <p:cNvPr id="6" name="">
            <a:extLst xmlns:a="http://schemas.openxmlformats.org/drawingml/2006/main">
              <a:ext uri="{FF2B5EF4-FFF2-40B4-BE49-F238E27FC236}">
                <a16:creationId xmlns:a16="http://schemas.microsoft.com/office/drawing/2014/main" id="{E62B5078-D625-4241-BC60-6D19519E20B8}"/>
              </a:ext>
            </a:extLst>
          </p:cNvPr>
          <p:cNvSpPr>
            <a:spLocks xmlns:a="http://schemas.openxmlformats.org/drawingml/2006/main" noGrp="1"/>
          </p:cNvSpPr>
          <p:nvPr/>
        </p:nvSpPr>
        <p:spPr>
          <a:xfrm xmlns:a="http://schemas.openxmlformats.org/drawingml/2006/main">
            <a:off x="3867150" y="3000375"/>
            <a:ext cx="304800" cy="3810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F76E379-839A-4539-BFAC-D610C5F044B5}"/>
              </a:ext>
            </a:extLst>
          </p:cNvPr>
          <p:cNvSpPr>
            <a:spLocks xmlns:a="http://schemas.openxmlformats.org/drawingml/2006/main" noGrp="1"/>
          </p:cNvSpPr>
          <p:nvPr/>
        </p:nvSpPr>
        <p:spPr>
          <a:xfrm xmlns:a="http://schemas.openxmlformats.org/drawingml/2006/main">
            <a:off x="2286000" y="2381250"/>
            <a:ext cx="1581150" cy="1333500"/>
          </a:xfrm>
          <a:prstGeom xmlns:a="http://schemas.openxmlformats.org/drawingml/2006/main" prst="roundRect">
            <a:avLst>
              <a:gd name="adj" fmla="val 5714"/>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2B00D3-66D3-4CE6-9325-914B4711880C}"/>
              </a:ext>
            </a:extLst>
          </p:cNvPr>
          <p:cNvSpPr>
            <a:spLocks xmlns:a="http://schemas.openxmlformats.org/drawingml/2006/main" noGrp="1"/>
          </p:cNvSpPr>
          <p:nvPr/>
        </p:nvSpPr>
        <p:spPr>
          <a:xfrm xmlns:a="http://schemas.openxmlformats.org/drawingml/2006/main">
            <a:off x="2400300" y="2638425"/>
            <a:ext cx="1352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변경 분류</a:t>
            </a:r>
          </a:p>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 정책 결정</a:t>
            </a:r>
          </a:p>
        </p:txBody>
      </p:sp>
      <p:sp>
        <p:nvSpPr>
          <p:cNvPr id="9" name="">
            <a:extLst xmlns:a="http://schemas.openxmlformats.org/drawingml/2006/main">
              <a:ext uri="{FF2B5EF4-FFF2-40B4-BE49-F238E27FC236}">
                <a16:creationId xmlns:a16="http://schemas.microsoft.com/office/drawing/2014/main" id="{4F6CB9B6-CF46-4162-93AA-261658ADBBF9}"/>
              </a:ext>
            </a:extLst>
          </p:cNvPr>
          <p:cNvSpPr>
            <a:spLocks xmlns:a="http://schemas.openxmlformats.org/drawingml/2006/main" noGrp="1"/>
          </p:cNvSpPr>
          <p:nvPr/>
        </p:nvSpPr>
        <p:spPr>
          <a:xfrm xmlns:a="http://schemas.openxmlformats.org/drawingml/2006/main">
            <a:off x="5753100" y="3000375"/>
            <a:ext cx="3048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BE64291-C70B-4343-A17B-3C775E291341}"/>
              </a:ext>
            </a:extLst>
          </p:cNvPr>
          <p:cNvSpPr>
            <a:spLocks xmlns:a="http://schemas.openxmlformats.org/drawingml/2006/main" noGrp="1"/>
          </p:cNvSpPr>
          <p:nvPr/>
        </p:nvSpPr>
        <p:spPr>
          <a:xfrm xmlns:a="http://schemas.openxmlformats.org/drawingml/2006/main">
            <a:off x="4171950" y="2381250"/>
            <a:ext cx="1581150" cy="1333500"/>
          </a:xfrm>
          <a:prstGeom xmlns:a="http://schemas.openxmlformats.org/drawingml/2006/main" prst="roundRect">
            <a:avLst>
              <a:gd name="adj" fmla="val 5714"/>
            </a:avLst>
          </a:prstGeom>
          <a:solidFill xmlns:a="http://schemas.openxmlformats.org/drawingml/2006/main">
            <a:srgbClr val="F1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35107EC-75A1-47FC-9779-530A2FFD80A9}"/>
              </a:ext>
            </a:extLst>
          </p:cNvPr>
          <p:cNvSpPr>
            <a:spLocks xmlns:a="http://schemas.openxmlformats.org/drawingml/2006/main" noGrp="1"/>
          </p:cNvSpPr>
          <p:nvPr/>
        </p:nvSpPr>
        <p:spPr>
          <a:xfrm xmlns:a="http://schemas.openxmlformats.org/drawingml/2006/main">
            <a:off x="4286250" y="2638425"/>
            <a:ext cx="1352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후보 검색</a:t>
            </a:r>
          </a:p>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RAG+사전+상수</a:t>
            </a:r>
          </a:p>
        </p:txBody>
      </p:sp>
      <p:sp>
        <p:nvSpPr>
          <p:cNvPr id="12" name="">
            <a:extLst xmlns:a="http://schemas.openxmlformats.org/drawingml/2006/main">
              <a:ext uri="{FF2B5EF4-FFF2-40B4-BE49-F238E27FC236}">
                <a16:creationId xmlns:a16="http://schemas.microsoft.com/office/drawing/2014/main" id="{B891EE27-83A9-4B7F-802D-1FF9D24D1E35}"/>
              </a:ext>
            </a:extLst>
          </p:cNvPr>
          <p:cNvSpPr>
            <a:spLocks xmlns:a="http://schemas.openxmlformats.org/drawingml/2006/main" noGrp="1"/>
          </p:cNvSpPr>
          <p:nvPr/>
        </p:nvSpPr>
        <p:spPr>
          <a:xfrm xmlns:a="http://schemas.openxmlformats.org/drawingml/2006/main">
            <a:off x="7639050" y="3000375"/>
            <a:ext cx="304800" cy="3810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02A39F-8AAC-44BA-917B-EDFBA99BCF22}"/>
              </a:ext>
            </a:extLst>
          </p:cNvPr>
          <p:cNvSpPr>
            <a:spLocks xmlns:a="http://schemas.openxmlformats.org/drawingml/2006/main" noGrp="1"/>
          </p:cNvSpPr>
          <p:nvPr/>
        </p:nvSpPr>
        <p:spPr>
          <a:xfrm xmlns:a="http://schemas.openxmlformats.org/drawingml/2006/main">
            <a:off x="6057900" y="2381250"/>
            <a:ext cx="1581150" cy="1333500"/>
          </a:xfrm>
          <a:prstGeom xmlns:a="http://schemas.openxmlformats.org/drawingml/2006/main" prst="roundRect">
            <a:avLst>
              <a:gd name="adj" fmla="val 5714"/>
            </a:avLst>
          </a:prstGeom>
          <a:solidFill xmlns:a="http://schemas.openxmlformats.org/drawingml/2006/main">
            <a:srgbClr val="DFF4F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58B8FF-9676-46BE-8BE6-967C107BAADB}"/>
              </a:ext>
            </a:extLst>
          </p:cNvPr>
          <p:cNvSpPr>
            <a:spLocks xmlns:a="http://schemas.openxmlformats.org/drawingml/2006/main" noGrp="1"/>
          </p:cNvSpPr>
          <p:nvPr/>
        </p:nvSpPr>
        <p:spPr>
          <a:xfrm xmlns:a="http://schemas.openxmlformats.org/drawingml/2006/main">
            <a:off x="6172200" y="2638425"/>
            <a:ext cx="1352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로컬 LLM</a:t>
            </a:r>
          </a:p>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분석+앵커 편집</a:t>
            </a:r>
          </a:p>
        </p:txBody>
      </p:sp>
      <p:sp>
        <p:nvSpPr>
          <p:cNvPr id="15" name="">
            <a:extLst xmlns:a="http://schemas.openxmlformats.org/drawingml/2006/main">
              <a:ext uri="{FF2B5EF4-FFF2-40B4-BE49-F238E27FC236}">
                <a16:creationId xmlns:a16="http://schemas.microsoft.com/office/drawing/2014/main" id="{12F69ABD-96D8-48AE-B22E-C89EDBCDE615}"/>
              </a:ext>
            </a:extLst>
          </p:cNvPr>
          <p:cNvSpPr>
            <a:spLocks xmlns:a="http://schemas.openxmlformats.org/drawingml/2006/main" noGrp="1"/>
          </p:cNvSpPr>
          <p:nvPr/>
        </p:nvSpPr>
        <p:spPr>
          <a:xfrm xmlns:a="http://schemas.openxmlformats.org/drawingml/2006/main">
            <a:off x="9525000" y="3000375"/>
            <a:ext cx="304800" cy="3810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4EBF75A-09D1-41FD-8DAF-142F5B5F4C8C}"/>
              </a:ext>
            </a:extLst>
          </p:cNvPr>
          <p:cNvSpPr>
            <a:spLocks xmlns:a="http://schemas.openxmlformats.org/drawingml/2006/main" noGrp="1"/>
          </p:cNvSpPr>
          <p:nvPr/>
        </p:nvSpPr>
        <p:spPr>
          <a:xfrm xmlns:a="http://schemas.openxmlformats.org/drawingml/2006/main">
            <a:off x="7943850" y="2381250"/>
            <a:ext cx="1581150" cy="1333500"/>
          </a:xfrm>
          <a:prstGeom xmlns:a="http://schemas.openxmlformats.org/drawingml/2006/main" prst="roundRect">
            <a:avLst>
              <a:gd name="adj" fmla="val 5714"/>
            </a:avLst>
          </a:prstGeom>
          <a:solidFill xmlns:a="http://schemas.openxmlformats.org/drawingml/2006/main">
            <a:srgbClr val="F1F3F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0A34633-584A-4ED7-8DB8-7E6F29E2FD2D}"/>
              </a:ext>
            </a:extLst>
          </p:cNvPr>
          <p:cNvSpPr>
            <a:spLocks xmlns:a="http://schemas.openxmlformats.org/drawingml/2006/main" noGrp="1"/>
          </p:cNvSpPr>
          <p:nvPr/>
        </p:nvSpPr>
        <p:spPr>
          <a:xfrm xmlns:a="http://schemas.openxmlformats.org/drawingml/2006/main">
            <a:off x="8058150" y="2638425"/>
            <a:ext cx="1352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서버 검증</a:t>
            </a:r>
          </a:p>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diff+git apply</a:t>
            </a:r>
          </a:p>
        </p:txBody>
      </p:sp>
      <p:sp>
        <p:nvSpPr>
          <p:cNvPr id="18" name="">
            <a:extLst xmlns:a="http://schemas.openxmlformats.org/drawingml/2006/main">
              <a:ext uri="{FF2B5EF4-FFF2-40B4-BE49-F238E27FC236}">
                <a16:creationId xmlns:a16="http://schemas.microsoft.com/office/drawing/2014/main" id="{7F2A0AB2-E959-4767-95FE-831DF02F3257}"/>
              </a:ext>
            </a:extLst>
          </p:cNvPr>
          <p:cNvSpPr>
            <a:spLocks xmlns:a="http://schemas.openxmlformats.org/drawingml/2006/main" noGrp="1"/>
          </p:cNvSpPr>
          <p:nvPr/>
        </p:nvSpPr>
        <p:spPr>
          <a:xfrm xmlns:a="http://schemas.openxmlformats.org/drawingml/2006/main">
            <a:off x="9829800" y="2381250"/>
            <a:ext cx="1581150" cy="1333500"/>
          </a:xfrm>
          <a:prstGeom xmlns:a="http://schemas.openxmlformats.org/drawingml/2006/main" prst="roundRect">
            <a:avLst>
              <a:gd name="adj" fmla="val 5714"/>
            </a:avLst>
          </a:prstGeom>
          <a:solidFill xmlns:a="http://schemas.openxmlformats.org/drawingml/2006/main">
            <a:srgbClr val="F1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5A3B134-F9A0-4FF4-A82B-9245815B9D49}"/>
              </a:ext>
            </a:extLst>
          </p:cNvPr>
          <p:cNvSpPr>
            <a:spLocks xmlns:a="http://schemas.openxmlformats.org/drawingml/2006/main" noGrp="1"/>
          </p:cNvSpPr>
          <p:nvPr/>
        </p:nvSpPr>
        <p:spPr>
          <a:xfrm xmlns:a="http://schemas.openxmlformats.org/drawingml/2006/main">
            <a:off x="9944100" y="2638425"/>
            <a:ext cx="1352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골든 테스트</a:t>
            </a:r>
          </a:p>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 사람 승인</a:t>
            </a:r>
          </a:p>
        </p:txBody>
      </p:sp>
      <p:sp>
        <p:nvSpPr>
          <p:cNvPr id="20" name="">
            <a:extLst xmlns:a="http://schemas.openxmlformats.org/drawingml/2006/main">
              <a:ext uri="{FF2B5EF4-FFF2-40B4-BE49-F238E27FC236}">
                <a16:creationId xmlns:a16="http://schemas.microsoft.com/office/drawing/2014/main" id="{C68D56B0-15C6-4C65-9892-710B64C20D72}"/>
              </a:ext>
            </a:extLst>
          </p:cNvPr>
          <p:cNvSpPr>
            <a:spLocks xmlns:a="http://schemas.openxmlformats.org/drawingml/2006/main" noGrp="1"/>
          </p:cNvSpPr>
          <p:nvPr/>
        </p:nvSpPr>
        <p:spPr>
          <a:xfrm xmlns:a="http://schemas.openxmlformats.org/drawingml/2006/main">
            <a:off x="6115050" y="4095750"/>
            <a:ext cx="1581150" cy="400050"/>
          </a:xfrm>
          <a:prstGeom xmlns:a="http://schemas.openxmlformats.org/drawingml/2006/main" prst="roundRect">
            <a:avLst>
              <a:gd name="adj" fmla="val 19048"/>
            </a:avLst>
          </a:prstGeom>
          <a:solidFill xmlns:a="http://schemas.openxmlformats.org/drawingml/2006/main">
            <a:srgbClr val="DFF4F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0304D45-7FA9-40BB-8941-80442F2D5915}"/>
              </a:ext>
            </a:extLst>
          </p:cNvPr>
          <p:cNvSpPr>
            <a:spLocks xmlns:a="http://schemas.openxmlformats.org/drawingml/2006/main" noGrp="1"/>
          </p:cNvSpPr>
          <p:nvPr/>
        </p:nvSpPr>
        <p:spPr>
          <a:xfrm xmlns:a="http://schemas.openxmlformats.org/drawingml/2006/main">
            <a:off x="6248400" y="4171950"/>
            <a:ext cx="131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a:solidFill>
                  <a:srgbClr val="3D8DFF"/>
                </a:solidFill>
                <a:latin typeface="Arial"/>
                <a:ea typeface="Arial"/>
                <a:cs typeface="Arial"/>
              </a:defRPr>
            </a:pPr>
            <a:r>
              <a:rPr sz="1275" b="1">
                <a:solidFill>
                  <a:srgbClr val="3D8DFF"/>
                </a:solidFill>
                <a:latin typeface="Arial"/>
                <a:ea typeface="Arial"/>
                <a:cs typeface="Arial"/>
              </a:rPr>
              <a:t>AI 판단</a:t>
            </a:r>
          </a:p>
        </p:txBody>
      </p:sp>
      <p:sp>
        <p:nvSpPr>
          <p:cNvPr id="22" name="">
            <a:extLst xmlns:a="http://schemas.openxmlformats.org/drawingml/2006/main">
              <a:ext uri="{FF2B5EF4-FFF2-40B4-BE49-F238E27FC236}">
                <a16:creationId xmlns:a16="http://schemas.microsoft.com/office/drawing/2014/main" id="{09332BB7-10D4-488F-9237-E3F25B6D7CC5}"/>
              </a:ext>
            </a:extLst>
          </p:cNvPr>
          <p:cNvSpPr>
            <a:spLocks xmlns:a="http://schemas.openxmlformats.org/drawingml/2006/main" noGrp="1"/>
          </p:cNvSpPr>
          <p:nvPr/>
        </p:nvSpPr>
        <p:spPr>
          <a:xfrm xmlns:a="http://schemas.openxmlformats.org/drawingml/2006/main">
            <a:off x="8001000" y="4095750"/>
            <a:ext cx="3371850" cy="400050"/>
          </a:xfrm>
          <a:prstGeom xmlns:a="http://schemas.openxmlformats.org/drawingml/2006/main" prst="roundRect">
            <a:avLst>
              <a:gd name="adj" fmla="val 19048"/>
            </a:avLst>
          </a:prstGeom>
          <a:solidFill xmlns:a="http://schemas.openxmlformats.org/drawingml/2006/main">
            <a:srgbClr val="0B0D1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D5ED2EE-D9A5-4C0D-B246-CE86277EF443}"/>
              </a:ext>
            </a:extLst>
          </p:cNvPr>
          <p:cNvSpPr>
            <a:spLocks xmlns:a="http://schemas.openxmlformats.org/drawingml/2006/main" noGrp="1"/>
          </p:cNvSpPr>
          <p:nvPr/>
        </p:nvSpPr>
        <p:spPr>
          <a:xfrm xmlns:a="http://schemas.openxmlformats.org/drawingml/2006/main">
            <a:off x="8134350" y="41719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결정론적 통제</a:t>
            </a:r>
          </a:p>
        </p:txBody>
      </p:sp>
      <p:sp>
        <p:nvSpPr>
          <p:cNvPr id="24" name="">
            <a:extLst xmlns:a="http://schemas.openxmlformats.org/drawingml/2006/main">
              <a:ext uri="{FF2B5EF4-FFF2-40B4-BE49-F238E27FC236}">
                <a16:creationId xmlns:a16="http://schemas.microsoft.com/office/drawing/2014/main" id="{7D7F2A65-5CE8-4007-88D2-1BD79492C03B}"/>
              </a:ext>
            </a:extLst>
          </p:cNvPr>
          <p:cNvSpPr>
            <a:spLocks xmlns:a="http://schemas.openxmlformats.org/drawingml/2006/main" noGrp="1"/>
          </p:cNvSpPr>
          <p:nvPr/>
        </p:nvSpPr>
        <p:spPr>
          <a:xfrm xmlns:a="http://schemas.openxmlformats.org/drawingml/2006/main">
            <a:off x="400050" y="49530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B0D12"/>
                </a:solidFill>
                <a:latin typeface="Arial"/>
                <a:ea typeface="Arial"/>
                <a:cs typeface="Arial"/>
              </a:defRPr>
            </a:pPr>
            <a:r>
              <a:rPr sz="2025" b="1">
                <a:solidFill>
                  <a:srgbClr val="0B0D12"/>
                </a:solidFill>
                <a:latin typeface="Arial"/>
                <a:ea typeface="Arial"/>
                <a:cs typeface="Arial"/>
              </a:rPr>
              <a:t>전체 저장소를 모델에 맡기지 않고, 검색으로 좁힌 실제 코드만 제공</a:t>
            </a:r>
          </a:p>
        </p:txBody>
      </p:sp>
      <p:sp>
        <p:nvSpPr>
          <p:cNvPr id="25" name="">
            <a:extLst xmlns:a="http://schemas.openxmlformats.org/drawingml/2006/main">
              <a:ext uri="{FF2B5EF4-FFF2-40B4-BE49-F238E27FC236}">
                <a16:creationId xmlns:a16="http://schemas.microsoft.com/office/drawing/2014/main" id="{DB4FEFE8-828F-4813-855E-2EA601033488}"/>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구현 seam: app/llm/LlmClient · app/codebase/CodebaseAdapter | 목표: Run/Audit/Artifact 추적</a:t>
            </a:r>
          </a:p>
        </p:txBody>
      </p:sp>
    </p:spTree>
    <p:extLst>
      <p:ext uri="{BB962C8B-B14F-4D97-AF65-F5344CB8AC3E}">
        <p14:creationId xmlns:p14="http://schemas.microsoft.com/office/powerpoint/2010/main" val="8417439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63562C-A2DC-4F7B-A73A-3832AA737DD9}"/>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로컬 모델 구축에서 품질을 좌우하는 것은 모델 이름보다 실행 조건이다</a:t>
            </a:r>
          </a:p>
        </p:txBody>
      </p:sp>
      <p:sp>
        <p:nvSpPr>
          <p:cNvPr id="2" name="">
            <a:extLst xmlns:a="http://schemas.openxmlformats.org/drawingml/2006/main">
              <a:ext uri="{FF2B5EF4-FFF2-40B4-BE49-F238E27FC236}">
                <a16:creationId xmlns:a16="http://schemas.microsoft.com/office/drawing/2014/main" id="{7129992F-F71B-4455-80FB-CD654881700B}"/>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68F9398-3CC7-4E29-B78F-FF5E78FB4AA4}"/>
              </a:ext>
            </a:extLst>
          </p:cNvPr>
          <p:cNvSpPr>
            <a:spLocks xmlns:a="http://schemas.openxmlformats.org/drawingml/2006/main" noGrp="1"/>
          </p:cNvSpPr>
          <p:nvPr/>
        </p:nvSpPr>
        <p:spPr>
          <a:xfrm xmlns:a="http://schemas.openxmlformats.org/drawingml/2006/main">
            <a:off x="400050" y="13811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40A4C1C-6258-4494-9E43-4E69ED58CCF3}"/>
              </a:ext>
            </a:extLst>
          </p:cNvPr>
          <p:cNvSpPr>
            <a:spLocks xmlns:a="http://schemas.openxmlformats.org/drawingml/2006/main" noGrp="1"/>
          </p:cNvSpPr>
          <p:nvPr/>
        </p:nvSpPr>
        <p:spPr>
          <a:xfrm xmlns:a="http://schemas.openxmlformats.org/drawingml/2006/main">
            <a:off x="1019175" y="1381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보안 경계</a:t>
            </a:r>
          </a:p>
        </p:txBody>
      </p:sp>
      <p:sp>
        <p:nvSpPr>
          <p:cNvPr id="5" name="">
            <a:extLst xmlns:a="http://schemas.openxmlformats.org/drawingml/2006/main">
              <a:ext uri="{FF2B5EF4-FFF2-40B4-BE49-F238E27FC236}">
                <a16:creationId xmlns:a16="http://schemas.microsoft.com/office/drawing/2014/main" id="{443D9236-D0B6-43E7-B80D-9734D44003B7}"/>
              </a:ext>
            </a:extLst>
          </p:cNvPr>
          <p:cNvSpPr>
            <a:spLocks xmlns:a="http://schemas.openxmlformats.org/drawingml/2006/main" noGrp="1"/>
          </p:cNvSpPr>
          <p:nvPr/>
        </p:nvSpPr>
        <p:spPr>
          <a:xfrm xmlns:a="http://schemas.openxmlformats.org/drawingml/2006/main">
            <a:off x="1019175" y="18383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9616E"/>
                </a:solidFill>
                <a:latin typeface="Arial"/>
                <a:ea typeface="Arial"/>
                <a:cs typeface="Arial"/>
              </a:defRPr>
            </a:pPr>
            <a:r>
              <a:rPr sz="1350" b="0">
                <a:solidFill>
                  <a:srgbClr val="59616E"/>
                </a:solidFill>
                <a:latin typeface="Arial"/>
                <a:ea typeface="Arial"/>
                <a:cs typeface="Arial"/>
              </a:rPr>
              <a:t>코드·파생 인덱스·프롬프트·로그가 외부로 나가지 않도록 구성</a:t>
            </a:r>
          </a:p>
        </p:txBody>
      </p:sp>
      <p:sp>
        <p:nvSpPr>
          <p:cNvPr id="6" name="">
            <a:extLst xmlns:a="http://schemas.openxmlformats.org/drawingml/2006/main">
              <a:ext uri="{FF2B5EF4-FFF2-40B4-BE49-F238E27FC236}">
                <a16:creationId xmlns:a16="http://schemas.microsoft.com/office/drawing/2014/main" id="{7B454312-38E2-481E-B6F3-EE6C1C08CC5A}"/>
              </a:ext>
            </a:extLst>
          </p:cNvPr>
          <p:cNvSpPr>
            <a:spLocks xmlns:a="http://schemas.openxmlformats.org/drawingml/2006/main" noGrp="1"/>
          </p:cNvSpPr>
          <p:nvPr/>
        </p:nvSpPr>
        <p:spPr>
          <a:xfrm xmlns:a="http://schemas.openxmlformats.org/drawingml/2006/main">
            <a:off x="5962650" y="1381125"/>
            <a:ext cx="9525" cy="116205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29E0CE-23D0-4ED9-BD51-7610A8D1B2FA}"/>
              </a:ext>
            </a:extLst>
          </p:cNvPr>
          <p:cNvSpPr>
            <a:spLocks xmlns:a="http://schemas.openxmlformats.org/drawingml/2006/main" noGrp="1"/>
          </p:cNvSpPr>
          <p:nvPr/>
        </p:nvSpPr>
        <p:spPr>
          <a:xfrm xmlns:a="http://schemas.openxmlformats.org/drawingml/2006/main">
            <a:off x="6181725" y="13811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6641CCB-E49C-4B70-B0D5-0CF3093FDD7A}"/>
              </a:ext>
            </a:extLst>
          </p:cNvPr>
          <p:cNvSpPr>
            <a:spLocks xmlns:a="http://schemas.openxmlformats.org/drawingml/2006/main" noGrp="1"/>
          </p:cNvSpPr>
          <p:nvPr/>
        </p:nvSpPr>
        <p:spPr>
          <a:xfrm xmlns:a="http://schemas.openxmlformats.org/drawingml/2006/main">
            <a:off x="6800850" y="1381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컨텍스트</a:t>
            </a:r>
          </a:p>
        </p:txBody>
      </p:sp>
      <p:sp>
        <p:nvSpPr>
          <p:cNvPr id="9" name="">
            <a:extLst xmlns:a="http://schemas.openxmlformats.org/drawingml/2006/main">
              <a:ext uri="{FF2B5EF4-FFF2-40B4-BE49-F238E27FC236}">
                <a16:creationId xmlns:a16="http://schemas.microsoft.com/office/drawing/2014/main" id="{0E2EB662-2C1B-4562-A346-C1A6EE1DB40D}"/>
              </a:ext>
            </a:extLst>
          </p:cNvPr>
          <p:cNvSpPr>
            <a:spLocks xmlns:a="http://schemas.openxmlformats.org/drawingml/2006/main" noGrp="1"/>
          </p:cNvSpPr>
          <p:nvPr/>
        </p:nvSpPr>
        <p:spPr>
          <a:xfrm xmlns:a="http://schemas.openxmlformats.org/drawingml/2006/main">
            <a:off x="6800850" y="18383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9616E"/>
                </a:solidFill>
                <a:latin typeface="Arial"/>
                <a:ea typeface="Arial"/>
                <a:cs typeface="Arial"/>
              </a:defRPr>
            </a:pPr>
            <a:r>
              <a:rPr sz="1350" b="0">
                <a:solidFill>
                  <a:srgbClr val="59616E"/>
                </a:solidFill>
                <a:latin typeface="Arial"/>
                <a:ea typeface="Arial"/>
                <a:cs typeface="Arial"/>
              </a:rPr>
              <a:t>Ollama 서버를 16K 이상으로 기동하고 실제 context shift를 감시</a:t>
            </a:r>
          </a:p>
        </p:txBody>
      </p:sp>
      <p:sp>
        <p:nvSpPr>
          <p:cNvPr id="10" name="">
            <a:extLst xmlns:a="http://schemas.openxmlformats.org/drawingml/2006/main">
              <a:ext uri="{FF2B5EF4-FFF2-40B4-BE49-F238E27FC236}">
                <a16:creationId xmlns:a16="http://schemas.microsoft.com/office/drawing/2014/main" id="{D1F67B6B-DB4C-47C3-BD19-75A0FD13C0A2}"/>
              </a:ext>
            </a:extLst>
          </p:cNvPr>
          <p:cNvSpPr>
            <a:spLocks xmlns:a="http://schemas.openxmlformats.org/drawingml/2006/main" noGrp="1"/>
          </p:cNvSpPr>
          <p:nvPr/>
        </p:nvSpPr>
        <p:spPr>
          <a:xfrm xmlns:a="http://schemas.openxmlformats.org/drawingml/2006/main">
            <a:off x="400050" y="29051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B4D7879-AFDA-4CA4-9D28-354CB8A8FAD3}"/>
              </a:ext>
            </a:extLst>
          </p:cNvPr>
          <p:cNvSpPr>
            <a:spLocks xmlns:a="http://schemas.openxmlformats.org/drawingml/2006/main" noGrp="1"/>
          </p:cNvSpPr>
          <p:nvPr/>
        </p:nvSpPr>
        <p:spPr>
          <a:xfrm xmlns:a="http://schemas.openxmlformats.org/drawingml/2006/main">
            <a:off x="1019175" y="2905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모델 분업</a:t>
            </a:r>
          </a:p>
        </p:txBody>
      </p:sp>
      <p:sp>
        <p:nvSpPr>
          <p:cNvPr id="12" name="">
            <a:extLst xmlns:a="http://schemas.openxmlformats.org/drawingml/2006/main">
              <a:ext uri="{FF2B5EF4-FFF2-40B4-BE49-F238E27FC236}">
                <a16:creationId xmlns:a16="http://schemas.microsoft.com/office/drawing/2014/main" id="{85C08C3B-A8DC-4B01-B582-9A4BF7461E6F}"/>
              </a:ext>
            </a:extLst>
          </p:cNvPr>
          <p:cNvSpPr>
            <a:spLocks xmlns:a="http://schemas.openxmlformats.org/drawingml/2006/main" noGrp="1"/>
          </p:cNvSpPr>
          <p:nvPr/>
        </p:nvSpPr>
        <p:spPr>
          <a:xfrm xmlns:a="http://schemas.openxmlformats.org/drawingml/2006/main">
            <a:off x="1019175" y="33623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9616E"/>
                </a:solidFill>
                <a:latin typeface="Arial"/>
                <a:ea typeface="Arial"/>
                <a:cs typeface="Arial"/>
              </a:defRPr>
            </a:pPr>
            <a:r>
              <a:rPr sz="1350" b="0">
                <a:solidFill>
                  <a:srgbClr val="59616E"/>
                </a:solidFill>
                <a:latin typeface="Arial"/>
                <a:ea typeface="Arial"/>
                <a:cs typeface="Arial"/>
              </a:rPr>
              <a:t>요약은 경량 모델, 코드 편집은 상위 모델로 비용과 속도 분리</a:t>
            </a:r>
          </a:p>
        </p:txBody>
      </p:sp>
      <p:sp>
        <p:nvSpPr>
          <p:cNvPr id="13" name="">
            <a:extLst xmlns:a="http://schemas.openxmlformats.org/drawingml/2006/main">
              <a:ext uri="{FF2B5EF4-FFF2-40B4-BE49-F238E27FC236}">
                <a16:creationId xmlns:a16="http://schemas.microsoft.com/office/drawing/2014/main" id="{6CCD1F9A-A21F-43B3-B7AE-6D5C52F60681}"/>
              </a:ext>
            </a:extLst>
          </p:cNvPr>
          <p:cNvSpPr>
            <a:spLocks xmlns:a="http://schemas.openxmlformats.org/drawingml/2006/main" noGrp="1"/>
          </p:cNvSpPr>
          <p:nvPr/>
        </p:nvSpPr>
        <p:spPr>
          <a:xfrm xmlns:a="http://schemas.openxmlformats.org/drawingml/2006/main">
            <a:off x="5962650" y="2905125"/>
            <a:ext cx="9525" cy="116205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C9168B-4721-44BC-98A6-4381C911C810}"/>
              </a:ext>
            </a:extLst>
          </p:cNvPr>
          <p:cNvSpPr>
            <a:spLocks xmlns:a="http://schemas.openxmlformats.org/drawingml/2006/main" noGrp="1"/>
          </p:cNvSpPr>
          <p:nvPr/>
        </p:nvSpPr>
        <p:spPr>
          <a:xfrm xmlns:a="http://schemas.openxmlformats.org/drawingml/2006/main">
            <a:off x="6181725" y="29051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FC45EAC7-B562-4023-B7B2-67A20BAE3BA7}"/>
              </a:ext>
            </a:extLst>
          </p:cNvPr>
          <p:cNvSpPr>
            <a:spLocks xmlns:a="http://schemas.openxmlformats.org/drawingml/2006/main" noGrp="1"/>
          </p:cNvSpPr>
          <p:nvPr/>
        </p:nvSpPr>
        <p:spPr>
          <a:xfrm xmlns:a="http://schemas.openxmlformats.org/drawingml/2006/main">
            <a:off x="6800850" y="2905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하드웨어</a:t>
            </a:r>
          </a:p>
        </p:txBody>
      </p:sp>
      <p:sp>
        <p:nvSpPr>
          <p:cNvPr id="16" name="">
            <a:extLst xmlns:a="http://schemas.openxmlformats.org/drawingml/2006/main">
              <a:ext uri="{FF2B5EF4-FFF2-40B4-BE49-F238E27FC236}">
                <a16:creationId xmlns:a16="http://schemas.microsoft.com/office/drawing/2014/main" id="{51DBBABA-8C41-4EC7-8E64-F4E90D37A412}"/>
              </a:ext>
            </a:extLst>
          </p:cNvPr>
          <p:cNvSpPr>
            <a:spLocks xmlns:a="http://schemas.openxmlformats.org/drawingml/2006/main" noGrp="1"/>
          </p:cNvSpPr>
          <p:nvPr/>
        </p:nvSpPr>
        <p:spPr>
          <a:xfrm xmlns:a="http://schemas.openxmlformats.org/drawingml/2006/main">
            <a:off x="6800850" y="33623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9616E"/>
                </a:solidFill>
                <a:latin typeface="Arial"/>
                <a:ea typeface="Arial"/>
                <a:cs typeface="Arial"/>
              </a:defRPr>
            </a:pPr>
            <a:r>
              <a:rPr sz="1350" b="0">
                <a:solidFill>
                  <a:srgbClr val="59616E"/>
                </a:solidFill>
                <a:latin typeface="Arial"/>
                <a:ea typeface="Arial"/>
                <a:cs typeface="Arial"/>
              </a:rPr>
              <a:t>CPU 5–8 t/s 기준 수 분; 운영량 증가 시 GPU/vLLM로 교체</a:t>
            </a:r>
          </a:p>
        </p:txBody>
      </p:sp>
      <p:sp>
        <p:nvSpPr>
          <p:cNvPr id="17" name="">
            <a:extLst xmlns:a="http://schemas.openxmlformats.org/drawingml/2006/main">
              <a:ext uri="{FF2B5EF4-FFF2-40B4-BE49-F238E27FC236}">
                <a16:creationId xmlns:a16="http://schemas.microsoft.com/office/drawing/2014/main" id="{8B5A527C-7225-4585-898C-BD2212413E54}"/>
              </a:ext>
            </a:extLst>
          </p:cNvPr>
          <p:cNvSpPr>
            <a:spLocks xmlns:a="http://schemas.openxmlformats.org/drawingml/2006/main" noGrp="1"/>
          </p:cNvSpPr>
          <p:nvPr/>
        </p:nvSpPr>
        <p:spPr>
          <a:xfrm xmlns:a="http://schemas.openxmlformats.org/drawingml/2006/main">
            <a:off x="400050" y="44291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A6295021-3574-4C36-9900-EB7FEA21422A}"/>
              </a:ext>
            </a:extLst>
          </p:cNvPr>
          <p:cNvSpPr>
            <a:spLocks xmlns:a="http://schemas.openxmlformats.org/drawingml/2006/main" noGrp="1"/>
          </p:cNvSpPr>
          <p:nvPr/>
        </p:nvSpPr>
        <p:spPr>
          <a:xfrm xmlns:a="http://schemas.openxmlformats.org/drawingml/2006/main">
            <a:off x="1019175" y="4429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출력 통제</a:t>
            </a:r>
          </a:p>
        </p:txBody>
      </p:sp>
      <p:sp>
        <p:nvSpPr>
          <p:cNvPr id="19" name="">
            <a:extLst xmlns:a="http://schemas.openxmlformats.org/drawingml/2006/main">
              <a:ext uri="{FF2B5EF4-FFF2-40B4-BE49-F238E27FC236}">
                <a16:creationId xmlns:a16="http://schemas.microsoft.com/office/drawing/2014/main" id="{28080C84-D3AB-4577-A8A0-238A7B2903AB}"/>
              </a:ext>
            </a:extLst>
          </p:cNvPr>
          <p:cNvSpPr>
            <a:spLocks xmlns:a="http://schemas.openxmlformats.org/drawingml/2006/main" noGrp="1"/>
          </p:cNvSpPr>
          <p:nvPr/>
        </p:nvSpPr>
        <p:spPr>
          <a:xfrm xmlns:a="http://schemas.openxmlformats.org/drawingml/2006/main">
            <a:off x="1019175" y="48863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9616E"/>
                </a:solidFill>
                <a:latin typeface="Arial"/>
                <a:ea typeface="Arial"/>
                <a:cs typeface="Arial"/>
              </a:defRPr>
            </a:pPr>
            <a:r>
              <a:rPr sz="1350" b="0">
                <a:solidFill>
                  <a:srgbClr val="59616E"/>
                </a:solidFill>
                <a:latin typeface="Arial"/>
                <a:ea typeface="Arial"/>
                <a:cs typeface="Arial"/>
              </a:rPr>
              <a:t>thinking 비활성, 낮은 temperature, JSON·앵커 스키마 강제</a:t>
            </a:r>
          </a:p>
        </p:txBody>
      </p:sp>
      <p:sp>
        <p:nvSpPr>
          <p:cNvPr id="20" name="">
            <a:extLst xmlns:a="http://schemas.openxmlformats.org/drawingml/2006/main">
              <a:ext uri="{FF2B5EF4-FFF2-40B4-BE49-F238E27FC236}">
                <a16:creationId xmlns:a16="http://schemas.microsoft.com/office/drawing/2014/main" id="{A2E2775A-6C6C-4775-90AC-593D691FBDB7}"/>
              </a:ext>
            </a:extLst>
          </p:cNvPr>
          <p:cNvSpPr>
            <a:spLocks xmlns:a="http://schemas.openxmlformats.org/drawingml/2006/main" noGrp="1"/>
          </p:cNvSpPr>
          <p:nvPr/>
        </p:nvSpPr>
        <p:spPr>
          <a:xfrm xmlns:a="http://schemas.openxmlformats.org/drawingml/2006/main">
            <a:off x="5962650" y="4429125"/>
            <a:ext cx="9525" cy="116205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6ADBE6C-6562-4AA0-88CD-7794EDD043B1}"/>
              </a:ext>
            </a:extLst>
          </p:cNvPr>
          <p:cNvSpPr>
            <a:spLocks xmlns:a="http://schemas.openxmlformats.org/drawingml/2006/main" noGrp="1"/>
          </p:cNvSpPr>
          <p:nvPr/>
        </p:nvSpPr>
        <p:spPr>
          <a:xfrm xmlns:a="http://schemas.openxmlformats.org/drawingml/2006/main">
            <a:off x="6181725" y="44291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06</a:t>
            </a:r>
          </a:p>
        </p:txBody>
      </p:sp>
      <p:sp>
        <p:nvSpPr>
          <p:cNvPr id="22" name="">
            <a:extLst xmlns:a="http://schemas.openxmlformats.org/drawingml/2006/main">
              <a:ext uri="{FF2B5EF4-FFF2-40B4-BE49-F238E27FC236}">
                <a16:creationId xmlns:a16="http://schemas.microsoft.com/office/drawing/2014/main" id="{71CB0982-7FD4-4D82-8AAC-8223D532FDD2}"/>
              </a:ext>
            </a:extLst>
          </p:cNvPr>
          <p:cNvSpPr>
            <a:spLocks xmlns:a="http://schemas.openxmlformats.org/drawingml/2006/main" noGrp="1"/>
          </p:cNvSpPr>
          <p:nvPr/>
        </p:nvSpPr>
        <p:spPr>
          <a:xfrm xmlns:a="http://schemas.openxmlformats.org/drawingml/2006/main">
            <a:off x="6800850" y="4429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B0D12"/>
                </a:solidFill>
                <a:latin typeface="Arial"/>
                <a:ea typeface="Arial"/>
                <a:cs typeface="Arial"/>
              </a:defRPr>
            </a:pPr>
            <a:r>
              <a:rPr sz="1800" b="1">
                <a:solidFill>
                  <a:srgbClr val="0B0D12"/>
                </a:solidFill>
                <a:latin typeface="Arial"/>
                <a:ea typeface="Arial"/>
                <a:cs typeface="Arial"/>
              </a:rPr>
              <a:t>재현성</a:t>
            </a:r>
          </a:p>
        </p:txBody>
      </p:sp>
      <p:sp>
        <p:nvSpPr>
          <p:cNvPr id="23" name="">
            <a:extLst xmlns:a="http://schemas.openxmlformats.org/drawingml/2006/main">
              <a:ext uri="{FF2B5EF4-FFF2-40B4-BE49-F238E27FC236}">
                <a16:creationId xmlns:a16="http://schemas.microsoft.com/office/drawing/2014/main" id="{B3C9ED57-BD89-4003-B91D-B5FEDEC80000}"/>
              </a:ext>
            </a:extLst>
          </p:cNvPr>
          <p:cNvSpPr>
            <a:spLocks xmlns:a="http://schemas.openxmlformats.org/drawingml/2006/main" noGrp="1"/>
          </p:cNvSpPr>
          <p:nvPr/>
        </p:nvSpPr>
        <p:spPr>
          <a:xfrm xmlns:a="http://schemas.openxmlformats.org/drawingml/2006/main">
            <a:off x="6800850" y="48863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9616E"/>
                </a:solidFill>
                <a:latin typeface="Arial"/>
                <a:ea typeface="Arial"/>
                <a:cs typeface="Arial"/>
              </a:defRPr>
            </a:pPr>
            <a:r>
              <a:rPr sz="1350" b="0">
                <a:solidFill>
                  <a:srgbClr val="59616E"/>
                </a:solidFill>
                <a:latin typeface="Arial"/>
                <a:ea typeface="Arial"/>
                <a:cs typeface="Arial"/>
              </a:rPr>
              <a:t>모델·프롬프트·컨텍스트·commit·검색 결과를 run_id로 기록</a:t>
            </a:r>
          </a:p>
        </p:txBody>
      </p:sp>
      <p:sp>
        <p:nvSpPr>
          <p:cNvPr id="24" name="">
            <a:extLst xmlns:a="http://schemas.openxmlformats.org/drawingml/2006/main">
              <a:ext uri="{FF2B5EF4-FFF2-40B4-BE49-F238E27FC236}">
                <a16:creationId xmlns:a16="http://schemas.microsoft.com/office/drawing/2014/main" id="{CBA522AE-23B8-428F-935E-474188461834}"/>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현재 실측 실패 근거: F-20260712-0001 컨텍스트 유실 · F-20260712-0002 출력 토큰 절단</a:t>
            </a:r>
          </a:p>
        </p:txBody>
      </p:sp>
    </p:spTree>
    <p:extLst>
      <p:ext uri="{BB962C8B-B14F-4D97-AF65-F5344CB8AC3E}">
        <p14:creationId xmlns:p14="http://schemas.microsoft.com/office/powerpoint/2010/main" val="16488766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183162-B917-4AAE-BA24-2F1E87D5D860}"/>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278"/>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느리고 작은 모델의 약점은 ‘더 적게 읽고, 더 좁게 쓰고, 더 강하게 검사’해 보완한다</a:t>
            </a:r>
          </a:p>
        </p:txBody>
      </p:sp>
      <p:sp>
        <p:nvSpPr>
          <p:cNvPr id="2" name="">
            <a:extLst xmlns:a="http://schemas.openxmlformats.org/drawingml/2006/main">
              <a:ext uri="{FF2B5EF4-FFF2-40B4-BE49-F238E27FC236}">
                <a16:creationId xmlns:a16="http://schemas.microsoft.com/office/drawing/2014/main" id="{4A394ECE-9B56-4D47-84E4-B04A504F6D6D}"/>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1956F28-AD70-4CCC-AEE1-6E3722DC0242}"/>
              </a:ext>
            </a:extLst>
          </p:cNvPr>
          <p:cNvSpPr>
            <a:spLocks xmlns:a="http://schemas.openxmlformats.org/drawingml/2006/main" noGrp="1"/>
          </p:cNvSpPr>
          <p:nvPr/>
        </p:nvSpPr>
        <p:spPr>
          <a:xfrm xmlns:a="http://schemas.openxmlformats.org/drawingml/2006/main">
            <a:off x="400050" y="1581150"/>
            <a:ext cx="3476625" cy="35814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4D03BF-966A-4083-A118-EF12BA248EB1}"/>
              </a:ext>
            </a:extLst>
          </p:cNvPr>
          <p:cNvSpPr>
            <a:spLocks xmlns:a="http://schemas.openxmlformats.org/drawingml/2006/main" noGrp="1"/>
          </p:cNvSpPr>
          <p:nvPr/>
        </p:nvSpPr>
        <p:spPr>
          <a:xfrm xmlns:a="http://schemas.openxmlformats.org/drawingml/2006/main">
            <a:off x="628650" y="1905000"/>
            <a:ext cx="3019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B0D12"/>
                </a:solidFill>
                <a:latin typeface="Arial"/>
                <a:ea typeface="Arial"/>
                <a:cs typeface="Arial"/>
              </a:defRPr>
            </a:pPr>
            <a:r>
              <a:rPr sz="2100" b="1">
                <a:solidFill>
                  <a:srgbClr val="0B0D12"/>
                </a:solidFill>
                <a:latin typeface="Arial"/>
                <a:ea typeface="Arial"/>
                <a:cs typeface="Arial"/>
              </a:rPr>
              <a:t>더 적게 읽기</a:t>
            </a:r>
          </a:p>
        </p:txBody>
      </p:sp>
      <p:sp>
        <p:nvSpPr>
          <p:cNvPr id="5" name="">
            <a:extLst xmlns:a="http://schemas.openxmlformats.org/drawingml/2006/main">
              <a:ext uri="{FF2B5EF4-FFF2-40B4-BE49-F238E27FC236}">
                <a16:creationId xmlns:a16="http://schemas.microsoft.com/office/drawing/2014/main" id="{EAFD31B6-3542-4E2E-97EC-12FA8721C68C}"/>
              </a:ext>
            </a:extLst>
          </p:cNvPr>
          <p:cNvSpPr>
            <a:spLocks xmlns:a="http://schemas.openxmlformats.org/drawingml/2006/main" noGrp="1"/>
          </p:cNvSpPr>
          <p:nvPr/>
        </p:nvSpPr>
        <p:spPr>
          <a:xfrm xmlns:a="http://schemas.openxmlformats.org/drawingml/2006/main">
            <a:off x="628650" y="2667000"/>
            <a:ext cx="30194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0B0D12"/>
                </a:solidFill>
                <a:latin typeface="Arial"/>
                <a:ea typeface="Arial"/>
                <a:cs typeface="Arial"/>
              </a:defRPr>
            </a:pPr>
            <a:r>
              <a:rPr sz="1500" b="0">
                <a:solidFill>
                  <a:srgbClr val="0B0D12"/>
                </a:solidFill>
                <a:latin typeface="Arial"/>
                <a:ea typeface="Arial"/>
                <a:cs typeface="Arial"/>
              </a:rPr>
              <a:t>Java 메서드·SQL 문장·XML 쿼리 단위 청킹</a:t>
            </a:r>
          </a:p>
          <a:p xmlns:a="http://schemas.openxmlformats.org/drawingml/2006/main">
            <a:pPr algn="l">
              <a:defRPr sz="1500" b="0">
                <a:solidFill>
                  <a:srgbClr val="0B0D12"/>
                </a:solidFill>
                <a:latin typeface="Arial"/>
                <a:ea typeface="Arial"/>
                <a:cs typeface="Arial"/>
              </a:defRPr>
            </a:pPr>
            <a:r>
              <a:rPr sz="1500" b="0">
                <a:solidFill>
                  <a:srgbClr val="0B0D12"/>
                </a:solidFill>
                <a:latin typeface="Arial"/>
                <a:ea typeface="Arial"/>
                <a:cs typeface="Arial"/>
              </a:rPr>
              <a:t>검증 매핑 → RAG → 용어 사전 → 상수 값 매칭</a:t>
            </a:r>
          </a:p>
        </p:txBody>
      </p:sp>
      <p:sp>
        <p:nvSpPr>
          <p:cNvPr id="6" name="">
            <a:extLst xmlns:a="http://schemas.openxmlformats.org/drawingml/2006/main">
              <a:ext uri="{FF2B5EF4-FFF2-40B4-BE49-F238E27FC236}">
                <a16:creationId xmlns:a16="http://schemas.microsoft.com/office/drawing/2014/main" id="{617E587C-EC80-4BB1-974A-F0216EF6F326}"/>
              </a:ext>
            </a:extLst>
          </p:cNvPr>
          <p:cNvSpPr>
            <a:spLocks xmlns:a="http://schemas.openxmlformats.org/drawingml/2006/main" noGrp="1"/>
          </p:cNvSpPr>
          <p:nvPr/>
        </p:nvSpPr>
        <p:spPr>
          <a:xfrm xmlns:a="http://schemas.openxmlformats.org/drawingml/2006/main">
            <a:off x="628650" y="4457700"/>
            <a:ext cx="3019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검색 비용↓</a:t>
            </a:r>
          </a:p>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무관 코드↓</a:t>
            </a:r>
          </a:p>
        </p:txBody>
      </p:sp>
      <p:sp>
        <p:nvSpPr>
          <p:cNvPr id="7" name="">
            <a:extLst xmlns:a="http://schemas.openxmlformats.org/drawingml/2006/main">
              <a:ext uri="{FF2B5EF4-FFF2-40B4-BE49-F238E27FC236}">
                <a16:creationId xmlns:a16="http://schemas.microsoft.com/office/drawing/2014/main" id="{32FBA7E8-AAB4-4F11-8CBB-4BF384BAE654}"/>
              </a:ext>
            </a:extLst>
          </p:cNvPr>
          <p:cNvSpPr>
            <a:spLocks xmlns:a="http://schemas.openxmlformats.org/drawingml/2006/main" noGrp="1"/>
          </p:cNvSpPr>
          <p:nvPr/>
        </p:nvSpPr>
        <p:spPr>
          <a:xfrm xmlns:a="http://schemas.openxmlformats.org/drawingml/2006/main">
            <a:off x="4219575" y="1581150"/>
            <a:ext cx="3476625" cy="35814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B507EE-96F2-4FA4-8CBE-AE40DE4DF030}"/>
              </a:ext>
            </a:extLst>
          </p:cNvPr>
          <p:cNvSpPr>
            <a:spLocks xmlns:a="http://schemas.openxmlformats.org/drawingml/2006/main" noGrp="1"/>
          </p:cNvSpPr>
          <p:nvPr/>
        </p:nvSpPr>
        <p:spPr>
          <a:xfrm xmlns:a="http://schemas.openxmlformats.org/drawingml/2006/main">
            <a:off x="4448175" y="1905000"/>
            <a:ext cx="3019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B0D12"/>
                </a:solidFill>
                <a:latin typeface="Arial"/>
                <a:ea typeface="Arial"/>
                <a:cs typeface="Arial"/>
              </a:defRPr>
            </a:pPr>
            <a:r>
              <a:rPr sz="2100" b="1">
                <a:solidFill>
                  <a:srgbClr val="0B0D12"/>
                </a:solidFill>
                <a:latin typeface="Arial"/>
                <a:ea typeface="Arial"/>
                <a:cs typeface="Arial"/>
              </a:rPr>
              <a:t>더 좁게 쓰기</a:t>
            </a:r>
          </a:p>
        </p:txBody>
      </p:sp>
      <p:sp>
        <p:nvSpPr>
          <p:cNvPr id="9" name="">
            <a:extLst xmlns:a="http://schemas.openxmlformats.org/drawingml/2006/main">
              <a:ext uri="{FF2B5EF4-FFF2-40B4-BE49-F238E27FC236}">
                <a16:creationId xmlns:a16="http://schemas.microsoft.com/office/drawing/2014/main" id="{8F4E4045-413D-400B-A379-A27723F715E2}"/>
              </a:ext>
            </a:extLst>
          </p:cNvPr>
          <p:cNvSpPr>
            <a:spLocks xmlns:a="http://schemas.openxmlformats.org/drawingml/2006/main" noGrp="1"/>
          </p:cNvSpPr>
          <p:nvPr/>
        </p:nvSpPr>
        <p:spPr>
          <a:xfrm xmlns:a="http://schemas.openxmlformats.org/drawingml/2006/main">
            <a:off x="4448175" y="2667000"/>
            <a:ext cx="30194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0B0D12"/>
                </a:solidFill>
                <a:latin typeface="Arial"/>
                <a:ea typeface="Arial"/>
                <a:cs typeface="Arial"/>
              </a:defRPr>
            </a:pPr>
            <a:r>
              <a:rPr sz="1500" b="0">
                <a:solidFill>
                  <a:srgbClr val="0B0D12"/>
                </a:solidFill>
                <a:latin typeface="Arial"/>
                <a:ea typeface="Arial"/>
                <a:cs typeface="Arial"/>
              </a:rPr>
              <a:t>전체 파일 재작성 대신 SEARCH/REPLACE</a:t>
            </a:r>
          </a:p>
          <a:p xmlns:a="http://schemas.openxmlformats.org/drawingml/2006/main">
            <a:pPr algn="l">
              <a:defRPr sz="1500" b="0">
                <a:solidFill>
                  <a:srgbClr val="0B0D12"/>
                </a:solidFill>
                <a:latin typeface="Arial"/>
                <a:ea typeface="Arial"/>
                <a:cs typeface="Arial"/>
              </a:defRPr>
            </a:pPr>
            <a:r>
              <a:rPr sz="1500" b="0">
                <a:solidFill>
                  <a:srgbClr val="0B0D12"/>
                </a:solidFill>
                <a:latin typeface="Arial"/>
                <a:ea typeface="Arial"/>
                <a:cs typeface="Arial"/>
              </a:rPr>
              <a:t>실패 앵커는 실제 원본 ±25줄로 최대 2회 재시도</a:t>
            </a:r>
          </a:p>
        </p:txBody>
      </p:sp>
      <p:sp>
        <p:nvSpPr>
          <p:cNvPr id="10" name="">
            <a:extLst xmlns:a="http://schemas.openxmlformats.org/drawingml/2006/main">
              <a:ext uri="{FF2B5EF4-FFF2-40B4-BE49-F238E27FC236}">
                <a16:creationId xmlns:a16="http://schemas.microsoft.com/office/drawing/2014/main" id="{3921685A-7AA0-4D06-949D-9EA8183F4587}"/>
              </a:ext>
            </a:extLst>
          </p:cNvPr>
          <p:cNvSpPr>
            <a:spLocks xmlns:a="http://schemas.openxmlformats.org/drawingml/2006/main" noGrp="1"/>
          </p:cNvSpPr>
          <p:nvPr/>
        </p:nvSpPr>
        <p:spPr>
          <a:xfrm xmlns:a="http://schemas.openxmlformats.org/drawingml/2006/main">
            <a:off x="4448175" y="4457700"/>
            <a:ext cx="3019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출력 토큰↓</a:t>
            </a:r>
          </a:p>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앵커 오류↓</a:t>
            </a:r>
          </a:p>
        </p:txBody>
      </p:sp>
      <p:sp>
        <p:nvSpPr>
          <p:cNvPr id="11" name="">
            <a:extLst xmlns:a="http://schemas.openxmlformats.org/drawingml/2006/main">
              <a:ext uri="{FF2B5EF4-FFF2-40B4-BE49-F238E27FC236}">
                <a16:creationId xmlns:a16="http://schemas.microsoft.com/office/drawing/2014/main" id="{BE8F55AE-0BC6-475B-8712-A4FEE5CE04D0}"/>
              </a:ext>
            </a:extLst>
          </p:cNvPr>
          <p:cNvSpPr>
            <a:spLocks xmlns:a="http://schemas.openxmlformats.org/drawingml/2006/main" noGrp="1"/>
          </p:cNvSpPr>
          <p:nvPr/>
        </p:nvSpPr>
        <p:spPr>
          <a:xfrm xmlns:a="http://schemas.openxmlformats.org/drawingml/2006/main">
            <a:off x="8039100" y="1581150"/>
            <a:ext cx="3476625" cy="3581400"/>
          </a:xfrm>
          <a:prstGeom xmlns:a="http://schemas.openxmlformats.org/drawingml/2006/main" prst="rect">
            <a:avLst/>
          </a:prstGeom>
          <a:solidFill xmlns:a="http://schemas.openxmlformats.org/drawingml/2006/main">
            <a:srgbClr val="0B0D1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D34A118-6D8F-48DA-B04F-9F1C078FC134}"/>
              </a:ext>
            </a:extLst>
          </p:cNvPr>
          <p:cNvSpPr>
            <a:spLocks xmlns:a="http://schemas.openxmlformats.org/drawingml/2006/main" noGrp="1"/>
          </p:cNvSpPr>
          <p:nvPr/>
        </p:nvSpPr>
        <p:spPr>
          <a:xfrm xmlns:a="http://schemas.openxmlformats.org/drawingml/2006/main">
            <a:off x="8267700" y="1905000"/>
            <a:ext cx="3019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더 강하게 검사</a:t>
            </a:r>
          </a:p>
        </p:txBody>
      </p:sp>
      <p:sp>
        <p:nvSpPr>
          <p:cNvPr id="13" name="">
            <a:extLst xmlns:a="http://schemas.openxmlformats.org/drawingml/2006/main">
              <a:ext uri="{FF2B5EF4-FFF2-40B4-BE49-F238E27FC236}">
                <a16:creationId xmlns:a16="http://schemas.microsoft.com/office/drawing/2014/main" id="{B485D772-4247-4AE4-BDCA-A4C475F4E642}"/>
              </a:ext>
            </a:extLst>
          </p:cNvPr>
          <p:cNvSpPr>
            <a:spLocks xmlns:a="http://schemas.openxmlformats.org/drawingml/2006/main" noGrp="1"/>
          </p:cNvSpPr>
          <p:nvPr/>
        </p:nvSpPr>
        <p:spPr>
          <a:xfrm xmlns:a="http://schemas.openxmlformats.org/drawingml/2006/main">
            <a:off x="8267700" y="2667000"/>
            <a:ext cx="30194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서버가 unified diff 생성</a:t>
            </a:r>
          </a:p>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스크래치 git apply + 골든 테스트 + 사람 승인</a:t>
            </a:r>
          </a:p>
        </p:txBody>
      </p:sp>
      <p:sp>
        <p:nvSpPr>
          <p:cNvPr id="14" name="">
            <a:extLst xmlns:a="http://schemas.openxmlformats.org/drawingml/2006/main">
              <a:ext uri="{FF2B5EF4-FFF2-40B4-BE49-F238E27FC236}">
                <a16:creationId xmlns:a16="http://schemas.microsoft.com/office/drawing/2014/main" id="{B87D7EF1-E0B7-4062-8CAD-F544CF021F92}"/>
              </a:ext>
            </a:extLst>
          </p:cNvPr>
          <p:cNvSpPr>
            <a:spLocks xmlns:a="http://schemas.openxmlformats.org/drawingml/2006/main" noGrp="1"/>
          </p:cNvSpPr>
          <p:nvPr/>
        </p:nvSpPr>
        <p:spPr>
          <a:xfrm xmlns:a="http://schemas.openxmlformats.org/drawingml/2006/main">
            <a:off x="8267700" y="4457700"/>
            <a:ext cx="3019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6DCBF4"/>
                </a:solidFill>
                <a:latin typeface="Arial"/>
                <a:ea typeface="Arial"/>
                <a:cs typeface="Arial"/>
              </a:defRPr>
            </a:pPr>
            <a:r>
              <a:rPr sz="1575" b="1">
                <a:solidFill>
                  <a:srgbClr val="6DCBF4"/>
                </a:solidFill>
                <a:latin typeface="Arial"/>
                <a:ea typeface="Arial"/>
                <a:cs typeface="Arial"/>
              </a:rPr>
              <a:t>환각의 영향↓</a:t>
            </a:r>
          </a:p>
          <a:p xmlns:a="http://schemas.openxmlformats.org/drawingml/2006/main">
            <a:pPr algn="l">
              <a:defRPr sz="1575" b="1">
                <a:solidFill>
                  <a:srgbClr val="6DCBF4"/>
                </a:solidFill>
                <a:latin typeface="Arial"/>
                <a:ea typeface="Arial"/>
                <a:cs typeface="Arial"/>
              </a:defRPr>
            </a:pPr>
            <a:r>
              <a:rPr sz="1575" b="1">
                <a:solidFill>
                  <a:srgbClr val="6DCBF4"/>
                </a:solidFill>
                <a:latin typeface="Arial"/>
                <a:ea typeface="Arial"/>
                <a:cs typeface="Arial"/>
              </a:rPr>
              <a:t>실제 repo 불변</a:t>
            </a:r>
          </a:p>
        </p:txBody>
      </p:sp>
      <p:sp>
        <p:nvSpPr>
          <p:cNvPr id="15" name="">
            <a:extLst xmlns:a="http://schemas.openxmlformats.org/drawingml/2006/main">
              <a:ext uri="{FF2B5EF4-FFF2-40B4-BE49-F238E27FC236}">
                <a16:creationId xmlns:a16="http://schemas.microsoft.com/office/drawing/2014/main" id="{B0C8A1FE-28DC-405F-BAD0-028CF852B611}"/>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성능 보완은 모델 튜닝보다 먼저 검색·출력·검증 파이프라인에서 수행</a:t>
            </a:r>
          </a:p>
        </p:txBody>
      </p:sp>
    </p:spTree>
    <p:extLst>
      <p:ext uri="{BB962C8B-B14F-4D97-AF65-F5344CB8AC3E}">
        <p14:creationId xmlns:p14="http://schemas.microsoft.com/office/powerpoint/2010/main" val="13169626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112C43-5FA0-4C55-ABED-5F776702F7ED}"/>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자동 수정 가능성은 변경 유형에 따라 다르게 판단해야 한다</a:t>
            </a:r>
          </a:p>
        </p:txBody>
      </p:sp>
      <p:sp>
        <p:nvSpPr>
          <p:cNvPr id="2" name="">
            <a:extLst xmlns:a="http://schemas.openxmlformats.org/drawingml/2006/main">
              <a:ext uri="{FF2B5EF4-FFF2-40B4-BE49-F238E27FC236}">
                <a16:creationId xmlns:a16="http://schemas.microsoft.com/office/drawing/2014/main" id="{0C2C0D4A-5F58-4BCB-8B2A-C6C7B51A9BCE}"/>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EC36DCD0-22FD-4884-B903-926F0015B1A1}"/>
              </a:ext>
            </a:extLst>
          </p:cNvPr>
          <p:cNvSpPr>
            <a:spLocks xmlns:a="http://schemas.openxmlformats.org/drawingml/2006/main" noGrp="1"/>
          </p:cNvSpPr>
          <p:nvPr/>
        </p:nvSpPr>
        <p:spPr>
          <a:xfrm xmlns:a="http://schemas.openxmlformats.org/drawingml/2006/main">
            <a:off x="400050" y="15430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6805C"/>
                </a:solidFill>
                <a:latin typeface="Arial"/>
                <a:ea typeface="Arial"/>
                <a:cs typeface="Arial"/>
              </a:defRPr>
            </a:pPr>
            <a:r>
              <a:rPr sz="1575" b="1">
                <a:solidFill>
                  <a:srgbClr val="16805C"/>
                </a:solidFill>
                <a:latin typeface="Arial"/>
                <a:ea typeface="Arial"/>
                <a:cs typeface="Arial"/>
              </a:rPr>
              <a:t>VALUE / RATE / DATE</a:t>
            </a:r>
          </a:p>
        </p:txBody>
      </p:sp>
      <p:sp>
        <p:nvSpPr>
          <p:cNvPr id="4" name="">
            <a:extLst xmlns:a="http://schemas.openxmlformats.org/drawingml/2006/main">
              <a:ext uri="{FF2B5EF4-FFF2-40B4-BE49-F238E27FC236}">
                <a16:creationId xmlns:a16="http://schemas.microsoft.com/office/drawing/2014/main" id="{83227CF5-861D-466F-BB1E-6F5A04BDAD0D}"/>
              </a:ext>
            </a:extLst>
          </p:cNvPr>
          <p:cNvSpPr>
            <a:spLocks xmlns:a="http://schemas.openxmlformats.org/drawingml/2006/main" noGrp="1"/>
          </p:cNvSpPr>
          <p:nvPr/>
        </p:nvSpPr>
        <p:spPr>
          <a:xfrm xmlns:a="http://schemas.openxmlformats.org/drawingml/2006/main">
            <a:off x="3762375" y="15430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초안 자동화에 적합</a:t>
            </a:r>
          </a:p>
        </p:txBody>
      </p:sp>
      <p:sp>
        <p:nvSpPr>
          <p:cNvPr id="5" name="">
            <a:extLst xmlns:a="http://schemas.openxmlformats.org/drawingml/2006/main">
              <a:ext uri="{FF2B5EF4-FFF2-40B4-BE49-F238E27FC236}">
                <a16:creationId xmlns:a16="http://schemas.microsoft.com/office/drawing/2014/main" id="{EE2503A8-DADC-4A99-AEF1-29442A020384}"/>
              </a:ext>
            </a:extLst>
          </p:cNvPr>
          <p:cNvSpPr>
            <a:spLocks xmlns:a="http://schemas.openxmlformats.org/drawingml/2006/main" noGrp="1"/>
          </p:cNvSpPr>
          <p:nvPr/>
        </p:nvSpPr>
        <p:spPr>
          <a:xfrm xmlns:a="http://schemas.openxmlformats.org/drawingml/2006/main">
            <a:off x="6667500" y="1543050"/>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9616E"/>
                </a:solidFill>
                <a:latin typeface="Arial"/>
                <a:ea typeface="Arial"/>
                <a:cs typeface="Arial"/>
              </a:defRPr>
            </a:pPr>
            <a:r>
              <a:rPr sz="1500" b="0">
                <a:solidFill>
                  <a:srgbClr val="59616E"/>
                </a:solidFill>
                <a:latin typeface="Arial"/>
                <a:ea typeface="Arial"/>
                <a:cs typeface="Arial"/>
              </a:rPr>
              <a:t>기존 상수·세율·한도·기준일 변경</a:t>
            </a:r>
          </a:p>
        </p:txBody>
      </p:sp>
      <p:sp>
        <p:nvSpPr>
          <p:cNvPr id="6" name="">
            <a:extLst xmlns:a="http://schemas.openxmlformats.org/drawingml/2006/main">
              <a:ext uri="{FF2B5EF4-FFF2-40B4-BE49-F238E27FC236}">
                <a16:creationId xmlns:a16="http://schemas.microsoft.com/office/drawing/2014/main" id="{D2B4ACE4-8ED6-4C61-9264-B9443E8644A8}"/>
              </a:ext>
            </a:extLst>
          </p:cNvPr>
          <p:cNvSpPr>
            <a:spLocks xmlns:a="http://schemas.openxmlformats.org/drawingml/2006/main" noGrp="1"/>
          </p:cNvSpPr>
          <p:nvPr/>
        </p:nvSpPr>
        <p:spPr>
          <a:xfrm xmlns:a="http://schemas.openxmlformats.org/drawingml/2006/main">
            <a:off x="400050" y="2266950"/>
            <a:ext cx="11001375" cy="19050"/>
          </a:xfrm>
          <a:prstGeom xmlns:a="http://schemas.openxmlformats.org/drawingml/2006/main" prst="rect">
            <a:avLst/>
          </a:prstGeom>
          <a:solidFill xmlns:a="http://schemas.openxmlformats.org/drawingml/2006/main">
            <a:srgbClr val="1680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772FAA1-7264-49A8-97E1-ADA153500D21}"/>
              </a:ext>
            </a:extLst>
          </p:cNvPr>
          <p:cNvSpPr>
            <a:spLocks xmlns:a="http://schemas.openxmlformats.org/drawingml/2006/main" noGrp="1"/>
          </p:cNvSpPr>
          <p:nvPr/>
        </p:nvSpPr>
        <p:spPr>
          <a:xfrm xmlns:a="http://schemas.openxmlformats.org/drawingml/2006/main">
            <a:off x="400050" y="292417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A86500"/>
                </a:solidFill>
                <a:latin typeface="Arial"/>
                <a:ea typeface="Arial"/>
                <a:cs typeface="Arial"/>
              </a:defRPr>
            </a:pPr>
            <a:r>
              <a:rPr sz="1575" b="1">
                <a:solidFill>
                  <a:srgbClr val="A86500"/>
                </a:solidFill>
                <a:latin typeface="Arial"/>
                <a:ea typeface="Arial"/>
                <a:cs typeface="Arial"/>
              </a:rPr>
              <a:t>CONDITION / TABLE</a:t>
            </a:r>
          </a:p>
        </p:txBody>
      </p:sp>
      <p:sp>
        <p:nvSpPr>
          <p:cNvPr id="8" name="">
            <a:extLst xmlns:a="http://schemas.openxmlformats.org/drawingml/2006/main">
              <a:ext uri="{FF2B5EF4-FFF2-40B4-BE49-F238E27FC236}">
                <a16:creationId xmlns:a16="http://schemas.microsoft.com/office/drawing/2014/main" id="{CD7E128A-F2B3-460C-A2B2-E80D1BC3CFF1}"/>
              </a:ext>
            </a:extLst>
          </p:cNvPr>
          <p:cNvSpPr>
            <a:spLocks xmlns:a="http://schemas.openxmlformats.org/drawingml/2006/main" noGrp="1"/>
          </p:cNvSpPr>
          <p:nvPr/>
        </p:nvSpPr>
        <p:spPr>
          <a:xfrm xmlns:a="http://schemas.openxmlformats.org/drawingml/2006/main">
            <a:off x="3762375" y="29241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하이브리드 검토</a:t>
            </a:r>
          </a:p>
        </p:txBody>
      </p:sp>
      <p:sp>
        <p:nvSpPr>
          <p:cNvPr id="9" name="">
            <a:extLst xmlns:a="http://schemas.openxmlformats.org/drawingml/2006/main">
              <a:ext uri="{FF2B5EF4-FFF2-40B4-BE49-F238E27FC236}">
                <a16:creationId xmlns:a16="http://schemas.microsoft.com/office/drawing/2014/main" id="{ADF55CFC-91B8-4E55-8D90-153B135B8576}"/>
              </a:ext>
            </a:extLst>
          </p:cNvPr>
          <p:cNvSpPr>
            <a:spLocks xmlns:a="http://schemas.openxmlformats.org/drawingml/2006/main" noGrp="1"/>
          </p:cNvSpPr>
          <p:nvPr/>
        </p:nvSpPr>
        <p:spPr>
          <a:xfrm xmlns:a="http://schemas.openxmlformats.org/drawingml/2006/main">
            <a:off x="6667500" y="2924175"/>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9616E"/>
                </a:solidFill>
                <a:latin typeface="Arial"/>
                <a:ea typeface="Arial"/>
                <a:cs typeface="Arial"/>
              </a:defRPr>
            </a:pPr>
            <a:r>
              <a:rPr sz="1500" b="0">
                <a:solidFill>
                  <a:srgbClr val="59616E"/>
                </a:solidFill>
                <a:latin typeface="Arial"/>
                <a:ea typeface="Arial"/>
                <a:cs typeface="Arial"/>
              </a:rPr>
              <a:t>위치 매핑은 강점, 분기 로직은 사람 검토</a:t>
            </a:r>
          </a:p>
        </p:txBody>
      </p:sp>
      <p:sp>
        <p:nvSpPr>
          <p:cNvPr id="10" name="">
            <a:extLst xmlns:a="http://schemas.openxmlformats.org/drawingml/2006/main">
              <a:ext uri="{FF2B5EF4-FFF2-40B4-BE49-F238E27FC236}">
                <a16:creationId xmlns:a16="http://schemas.microsoft.com/office/drawing/2014/main" id="{498EAB4C-4F25-4AF1-8659-00F0F78B7078}"/>
              </a:ext>
            </a:extLst>
          </p:cNvPr>
          <p:cNvSpPr>
            <a:spLocks xmlns:a="http://schemas.openxmlformats.org/drawingml/2006/main" noGrp="1"/>
          </p:cNvSpPr>
          <p:nvPr/>
        </p:nvSpPr>
        <p:spPr>
          <a:xfrm xmlns:a="http://schemas.openxmlformats.org/drawingml/2006/main">
            <a:off x="400050" y="3648075"/>
            <a:ext cx="11001375" cy="19050"/>
          </a:xfrm>
          <a:prstGeom xmlns:a="http://schemas.openxmlformats.org/drawingml/2006/main" prst="rect">
            <a:avLst/>
          </a:prstGeom>
          <a:solidFill xmlns:a="http://schemas.openxmlformats.org/drawingml/2006/main">
            <a:srgbClr val="D9A44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6CFEAB-0295-4149-8243-1DB251C103C1}"/>
              </a:ext>
            </a:extLst>
          </p:cNvPr>
          <p:cNvSpPr>
            <a:spLocks xmlns:a="http://schemas.openxmlformats.org/drawingml/2006/main" noGrp="1"/>
          </p:cNvSpPr>
          <p:nvPr/>
        </p:nvSpPr>
        <p:spPr>
          <a:xfrm xmlns:a="http://schemas.openxmlformats.org/drawingml/2006/main">
            <a:off x="400050" y="43053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59616E"/>
                </a:solidFill>
                <a:latin typeface="Arial"/>
                <a:ea typeface="Arial"/>
                <a:cs typeface="Arial"/>
              </a:defRPr>
            </a:pPr>
            <a:r>
              <a:rPr sz="1575" b="1">
                <a:solidFill>
                  <a:srgbClr val="59616E"/>
                </a:solidFill>
                <a:latin typeface="Arial"/>
                <a:ea typeface="Arial"/>
                <a:cs typeface="Arial"/>
              </a:rPr>
              <a:t>NEW FIELD / STRUCTURAL</a:t>
            </a:r>
          </a:p>
        </p:txBody>
      </p:sp>
      <p:sp>
        <p:nvSpPr>
          <p:cNvPr id="12" name="">
            <a:extLst xmlns:a="http://schemas.openxmlformats.org/drawingml/2006/main">
              <a:ext uri="{FF2B5EF4-FFF2-40B4-BE49-F238E27FC236}">
                <a16:creationId xmlns:a16="http://schemas.microsoft.com/office/drawing/2014/main" id="{7750541F-CC17-4C83-A650-ACD12843640D}"/>
              </a:ext>
            </a:extLst>
          </p:cNvPr>
          <p:cNvSpPr>
            <a:spLocks xmlns:a="http://schemas.openxmlformats.org/drawingml/2006/main" noGrp="1"/>
          </p:cNvSpPr>
          <p:nvPr/>
        </p:nvSpPr>
        <p:spPr>
          <a:xfrm xmlns:a="http://schemas.openxmlformats.org/drawingml/2006/main">
            <a:off x="3762375" y="43053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defRPr sz="1875" b="1">
                <a:solidFill>
                  <a:srgbClr val="0B0D12"/>
                </a:solidFill>
                <a:latin typeface="Arial"/>
                <a:ea typeface="Arial"/>
                <a:cs typeface="Arial"/>
              </a:defRPr>
            </a:pPr>
            <a:r>
              <a:rPr sz="1875" b="1">
                <a:solidFill>
                  <a:srgbClr val="0B0D12"/>
                </a:solidFill>
                <a:latin typeface="Arial"/>
                <a:ea typeface="Arial"/>
                <a:cs typeface="Arial"/>
              </a:rPr>
              <a:t>분석 중심</a:t>
            </a:r>
          </a:p>
        </p:txBody>
      </p:sp>
      <p:sp>
        <p:nvSpPr>
          <p:cNvPr id="13" name="">
            <a:extLst xmlns:a="http://schemas.openxmlformats.org/drawingml/2006/main">
              <a:ext uri="{FF2B5EF4-FFF2-40B4-BE49-F238E27FC236}">
                <a16:creationId xmlns:a16="http://schemas.microsoft.com/office/drawing/2014/main" id="{249B4687-BAB3-4762-AA12-91C7A38BBF73}"/>
              </a:ext>
            </a:extLst>
          </p:cNvPr>
          <p:cNvSpPr>
            <a:spLocks xmlns:a="http://schemas.openxmlformats.org/drawingml/2006/main" noGrp="1"/>
          </p:cNvSpPr>
          <p:nvPr/>
        </p:nvSpPr>
        <p:spPr>
          <a:xfrm xmlns:a="http://schemas.openxmlformats.org/drawingml/2006/main">
            <a:off x="6667500" y="4305300"/>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9616E"/>
                </a:solidFill>
                <a:latin typeface="Arial"/>
                <a:ea typeface="Arial"/>
                <a:cs typeface="Arial"/>
              </a:defRPr>
            </a:pPr>
            <a:r>
              <a:rPr sz="1500" b="0">
                <a:solidFill>
                  <a:srgbClr val="59616E"/>
                </a:solidFill>
                <a:latin typeface="Arial"/>
                <a:ea typeface="Arial"/>
                <a:cs typeface="Arial"/>
              </a:rPr>
              <a:t>신규 스키마·계산 체계는 자동 반영 금지</a:t>
            </a:r>
          </a:p>
        </p:txBody>
      </p:sp>
      <p:sp>
        <p:nvSpPr>
          <p:cNvPr id="14" name="">
            <a:extLst xmlns:a="http://schemas.openxmlformats.org/drawingml/2006/main">
              <a:ext uri="{FF2B5EF4-FFF2-40B4-BE49-F238E27FC236}">
                <a16:creationId xmlns:a16="http://schemas.microsoft.com/office/drawing/2014/main" id="{112AFD4D-3005-4A55-924A-7041E5333CFC}"/>
              </a:ext>
            </a:extLst>
          </p:cNvPr>
          <p:cNvSpPr>
            <a:spLocks xmlns:a="http://schemas.openxmlformats.org/drawingml/2006/main" noGrp="1"/>
          </p:cNvSpPr>
          <p:nvPr/>
        </p:nvSpPr>
        <p:spPr>
          <a:xfrm xmlns:a="http://schemas.openxmlformats.org/drawingml/2006/main">
            <a:off x="400050" y="5029200"/>
            <a:ext cx="11001375" cy="19050"/>
          </a:xfrm>
          <a:prstGeom xmlns:a="http://schemas.openxmlformats.org/drawingml/2006/main" prst="rect">
            <a:avLst/>
          </a:prstGeom>
          <a:solidFill xmlns:a="http://schemas.openxmlformats.org/drawingml/2006/main">
            <a:srgbClr val="C6CB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8375136-47FC-49CE-AD9C-BAECA446E41B}"/>
              </a:ext>
            </a:extLst>
          </p:cNvPr>
          <p:cNvSpPr>
            <a:spLocks xmlns:a="http://schemas.openxmlformats.org/drawingml/2006/main" noGrp="1"/>
          </p:cNvSpPr>
          <p:nvPr/>
        </p:nvSpPr>
        <p:spPr>
          <a:xfrm xmlns:a="http://schemas.openxmlformats.org/drawingml/2006/main">
            <a:off x="400050" y="5676900"/>
            <a:ext cx="11001375" cy="4572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3B14515-B4D1-4497-8780-03B416293FE8}"/>
              </a:ext>
            </a:extLst>
          </p:cNvPr>
          <p:cNvSpPr>
            <a:spLocks xmlns:a="http://schemas.openxmlformats.org/drawingml/2006/main" noGrp="1"/>
          </p:cNvSpPr>
          <p:nvPr/>
        </p:nvSpPr>
        <p:spPr>
          <a:xfrm xmlns:a="http://schemas.openxmlformats.org/drawingml/2006/main">
            <a:off x="571500" y="5781675"/>
            <a:ext cx="10620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p xmlns:a="http://schemas.openxmlformats.org/drawingml/2006/main">
            <a:pPr algn="ctr">
              <a:defRPr sz="1500" b="1">
                <a:solidFill>
                  <a:srgbClr val="0B0D12"/>
                </a:solidFill>
                <a:latin typeface="Arial"/>
                <a:ea typeface="Arial"/>
                <a:cs typeface="Arial"/>
              </a:defRPr>
            </a:pPr>
            <a:r>
              <a:rPr sz="1500" b="1">
                <a:solidFill>
                  <a:srgbClr val="0B0D12"/>
                </a:solidFill>
                <a:latin typeface="Arial"/>
                <a:ea typeface="Arial"/>
                <a:cs typeface="Arial"/>
              </a:rPr>
              <a:t>정책 출력: DRAFT_ALLOWED  |  MANUAL_REVIEW_REQUIRED  |  ANALYSIS_ONLY</a:t>
            </a:r>
          </a:p>
        </p:txBody>
      </p:sp>
      <p:sp>
        <p:nvSpPr>
          <p:cNvPr id="17" name="">
            <a:extLst xmlns:a="http://schemas.openxmlformats.org/drawingml/2006/main">
              <a:ext uri="{FF2B5EF4-FFF2-40B4-BE49-F238E27FC236}">
                <a16:creationId xmlns:a16="http://schemas.microsoft.com/office/drawing/2014/main" id="{981E9639-7C6F-4C4D-8BCD-D35FD974EF54}"/>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목표 설계: ChangeClassifier → Risk &amp; Automation Policy</a:t>
            </a:r>
          </a:p>
        </p:txBody>
      </p:sp>
    </p:spTree>
    <p:extLst>
      <p:ext uri="{BB962C8B-B14F-4D97-AF65-F5344CB8AC3E}">
        <p14:creationId xmlns:p14="http://schemas.microsoft.com/office/powerpoint/2010/main" val="135464984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C18E32-05C0-47F7-8D61-088DCF3F6916}"/>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모델 평가는 ‘답변이 좋아 보이는가’가 아니라 단계별 성공률로 본다</a:t>
            </a:r>
          </a:p>
        </p:txBody>
      </p:sp>
      <p:sp>
        <p:nvSpPr>
          <p:cNvPr id="2" name="">
            <a:extLst xmlns:a="http://schemas.openxmlformats.org/drawingml/2006/main">
              <a:ext uri="{FF2B5EF4-FFF2-40B4-BE49-F238E27FC236}">
                <a16:creationId xmlns:a16="http://schemas.microsoft.com/office/drawing/2014/main" id="{5ACE00BB-17B6-40FA-B69D-55091C97E162}"/>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071D043-C429-45C5-97E0-0C9CDD443057}"/>
              </a:ext>
            </a:extLst>
          </p:cNvPr>
          <p:cNvSpPr>
            <a:spLocks xmlns:a="http://schemas.openxmlformats.org/drawingml/2006/main" noGrp="1"/>
          </p:cNvSpPr>
          <p:nvPr/>
        </p:nvSpPr>
        <p:spPr>
          <a:xfrm xmlns:a="http://schemas.openxmlformats.org/drawingml/2006/main">
            <a:off x="400050" y="1504950"/>
            <a:ext cx="3476625" cy="16573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6A8E91-D6CC-4EB1-960A-65302CAB19A9}"/>
              </a:ext>
            </a:extLst>
          </p:cNvPr>
          <p:cNvSpPr>
            <a:spLocks xmlns:a="http://schemas.openxmlformats.org/drawingml/2006/main" noGrp="1"/>
          </p:cNvSpPr>
          <p:nvPr/>
        </p:nvSpPr>
        <p:spPr>
          <a:xfrm xmlns:a="http://schemas.openxmlformats.org/drawingml/2006/main">
            <a:off x="609600" y="1695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탐지</a:t>
            </a:r>
          </a:p>
        </p:txBody>
      </p:sp>
      <p:sp>
        <p:nvSpPr>
          <p:cNvPr id="5" name="">
            <a:extLst xmlns:a="http://schemas.openxmlformats.org/drawingml/2006/main">
              <a:ext uri="{FF2B5EF4-FFF2-40B4-BE49-F238E27FC236}">
                <a16:creationId xmlns:a16="http://schemas.microsoft.com/office/drawing/2014/main" id="{C334832C-FA74-40AC-BF2F-678B76E67D07}"/>
              </a:ext>
            </a:extLst>
          </p:cNvPr>
          <p:cNvSpPr>
            <a:spLocks xmlns:a="http://schemas.openxmlformats.org/drawingml/2006/main" noGrp="1"/>
          </p:cNvSpPr>
          <p:nvPr/>
        </p:nvSpPr>
        <p:spPr>
          <a:xfrm xmlns:a="http://schemas.openxmlformats.org/drawingml/2006/main">
            <a:off x="609600" y="2162175"/>
            <a:ext cx="304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변경 탐지 Recall</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중복률 · 누락률</a:t>
            </a:r>
          </a:p>
        </p:txBody>
      </p:sp>
      <p:sp>
        <p:nvSpPr>
          <p:cNvPr id="6" name="">
            <a:extLst xmlns:a="http://schemas.openxmlformats.org/drawingml/2006/main">
              <a:ext uri="{FF2B5EF4-FFF2-40B4-BE49-F238E27FC236}">
                <a16:creationId xmlns:a16="http://schemas.microsoft.com/office/drawing/2014/main" id="{B4D37A01-7092-40B8-BA46-B2C69227DD7E}"/>
              </a:ext>
            </a:extLst>
          </p:cNvPr>
          <p:cNvSpPr>
            <a:spLocks xmlns:a="http://schemas.openxmlformats.org/drawingml/2006/main" noGrp="1"/>
          </p:cNvSpPr>
          <p:nvPr/>
        </p:nvSpPr>
        <p:spPr>
          <a:xfrm xmlns:a="http://schemas.openxmlformats.org/drawingml/2006/main">
            <a:off x="4219575" y="1504950"/>
            <a:ext cx="3476625" cy="16573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C2CA84A-7321-478D-905F-67CF6FA31E77}"/>
              </a:ext>
            </a:extLst>
          </p:cNvPr>
          <p:cNvSpPr>
            <a:spLocks xmlns:a="http://schemas.openxmlformats.org/drawingml/2006/main" noGrp="1"/>
          </p:cNvSpPr>
          <p:nvPr/>
        </p:nvSpPr>
        <p:spPr>
          <a:xfrm xmlns:a="http://schemas.openxmlformats.org/drawingml/2006/main">
            <a:off x="4429125" y="1695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검색</a:t>
            </a:r>
          </a:p>
        </p:txBody>
      </p:sp>
      <p:sp>
        <p:nvSpPr>
          <p:cNvPr id="8" name="">
            <a:extLst xmlns:a="http://schemas.openxmlformats.org/drawingml/2006/main">
              <a:ext uri="{FF2B5EF4-FFF2-40B4-BE49-F238E27FC236}">
                <a16:creationId xmlns:a16="http://schemas.microsoft.com/office/drawing/2014/main" id="{55A65BDD-9DD6-4112-B24F-BDDE1F35B2A5}"/>
              </a:ext>
            </a:extLst>
          </p:cNvPr>
          <p:cNvSpPr>
            <a:spLocks xmlns:a="http://schemas.openxmlformats.org/drawingml/2006/main" noGrp="1"/>
          </p:cNvSpPr>
          <p:nvPr/>
        </p:nvSpPr>
        <p:spPr>
          <a:xfrm xmlns:a="http://schemas.openxmlformats.org/drawingml/2006/main">
            <a:off x="4429125" y="2162175"/>
            <a:ext cx="304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Recall@K · MRR</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정답 파일/심볼 순위</a:t>
            </a:r>
          </a:p>
        </p:txBody>
      </p:sp>
      <p:sp>
        <p:nvSpPr>
          <p:cNvPr id="9" name="">
            <a:extLst xmlns:a="http://schemas.openxmlformats.org/drawingml/2006/main">
              <a:ext uri="{FF2B5EF4-FFF2-40B4-BE49-F238E27FC236}">
                <a16:creationId xmlns:a16="http://schemas.microsoft.com/office/drawing/2014/main" id="{684A15B6-E043-4E85-A082-F9C90E734A10}"/>
              </a:ext>
            </a:extLst>
          </p:cNvPr>
          <p:cNvSpPr>
            <a:spLocks xmlns:a="http://schemas.openxmlformats.org/drawingml/2006/main" noGrp="1"/>
          </p:cNvSpPr>
          <p:nvPr/>
        </p:nvSpPr>
        <p:spPr>
          <a:xfrm xmlns:a="http://schemas.openxmlformats.org/drawingml/2006/main">
            <a:off x="8039100" y="1504950"/>
            <a:ext cx="3476625" cy="165735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26F1BA-1AE7-437D-8269-755EAF186DCA}"/>
              </a:ext>
            </a:extLst>
          </p:cNvPr>
          <p:cNvSpPr>
            <a:spLocks xmlns:a="http://schemas.openxmlformats.org/drawingml/2006/main" noGrp="1"/>
          </p:cNvSpPr>
          <p:nvPr/>
        </p:nvSpPr>
        <p:spPr>
          <a:xfrm xmlns:a="http://schemas.openxmlformats.org/drawingml/2006/main">
            <a:off x="8248650" y="1695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생성</a:t>
            </a:r>
          </a:p>
        </p:txBody>
      </p:sp>
      <p:sp>
        <p:nvSpPr>
          <p:cNvPr id="11" name="">
            <a:extLst xmlns:a="http://schemas.openxmlformats.org/drawingml/2006/main">
              <a:ext uri="{FF2B5EF4-FFF2-40B4-BE49-F238E27FC236}">
                <a16:creationId xmlns:a16="http://schemas.microsoft.com/office/drawing/2014/main" id="{68BF8FAB-00DD-4ADC-A286-12DECFD6A4B0}"/>
              </a:ext>
            </a:extLst>
          </p:cNvPr>
          <p:cNvSpPr>
            <a:spLocks xmlns:a="http://schemas.openxmlformats.org/drawingml/2006/main" noGrp="1"/>
          </p:cNvSpPr>
          <p:nvPr/>
        </p:nvSpPr>
        <p:spPr>
          <a:xfrm xmlns:a="http://schemas.openxmlformats.org/drawingml/2006/main">
            <a:off x="8248650" y="2162175"/>
            <a:ext cx="304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형식 준수율</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앵커 성공률 · git apply율</a:t>
            </a:r>
          </a:p>
        </p:txBody>
      </p:sp>
      <p:sp>
        <p:nvSpPr>
          <p:cNvPr id="12" name="">
            <a:extLst xmlns:a="http://schemas.openxmlformats.org/drawingml/2006/main">
              <a:ext uri="{FF2B5EF4-FFF2-40B4-BE49-F238E27FC236}">
                <a16:creationId xmlns:a16="http://schemas.microsoft.com/office/drawing/2014/main" id="{2BB37E27-794C-44A1-BA60-0F5A49F5D2F2}"/>
              </a:ext>
            </a:extLst>
          </p:cNvPr>
          <p:cNvSpPr>
            <a:spLocks xmlns:a="http://schemas.openxmlformats.org/drawingml/2006/main" noGrp="1"/>
          </p:cNvSpPr>
          <p:nvPr/>
        </p:nvSpPr>
        <p:spPr>
          <a:xfrm xmlns:a="http://schemas.openxmlformats.org/drawingml/2006/main">
            <a:off x="400050" y="3524250"/>
            <a:ext cx="3476625" cy="16573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597CF98-2194-455F-8399-B3FD57D92C69}"/>
              </a:ext>
            </a:extLst>
          </p:cNvPr>
          <p:cNvSpPr>
            <a:spLocks xmlns:a="http://schemas.openxmlformats.org/drawingml/2006/main" noGrp="1"/>
          </p:cNvSpPr>
          <p:nvPr/>
        </p:nvSpPr>
        <p:spPr>
          <a:xfrm xmlns:a="http://schemas.openxmlformats.org/drawingml/2006/main">
            <a:off x="609600" y="37147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검증</a:t>
            </a:r>
          </a:p>
        </p:txBody>
      </p:sp>
      <p:sp>
        <p:nvSpPr>
          <p:cNvPr id="14" name="">
            <a:extLst xmlns:a="http://schemas.openxmlformats.org/drawingml/2006/main">
              <a:ext uri="{FF2B5EF4-FFF2-40B4-BE49-F238E27FC236}">
                <a16:creationId xmlns:a16="http://schemas.microsoft.com/office/drawing/2014/main" id="{6DE8D043-8DAC-4E1F-A674-147CE5EFB7E6}"/>
              </a:ext>
            </a:extLst>
          </p:cNvPr>
          <p:cNvSpPr>
            <a:spLocks xmlns:a="http://schemas.openxmlformats.org/drawingml/2006/main" noGrp="1"/>
          </p:cNvSpPr>
          <p:nvPr/>
        </p:nvSpPr>
        <p:spPr>
          <a:xfrm xmlns:a="http://schemas.openxmlformats.org/drawingml/2006/main">
            <a:off x="609600" y="4181475"/>
            <a:ext cx="304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골든 테스트 통과율</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회귀 실패 유형</a:t>
            </a:r>
          </a:p>
        </p:txBody>
      </p:sp>
      <p:sp>
        <p:nvSpPr>
          <p:cNvPr id="15" name="">
            <a:extLst xmlns:a="http://schemas.openxmlformats.org/drawingml/2006/main">
              <a:ext uri="{FF2B5EF4-FFF2-40B4-BE49-F238E27FC236}">
                <a16:creationId xmlns:a16="http://schemas.microsoft.com/office/drawing/2014/main" id="{7589865F-7E36-44EB-87C5-D86836ED919A}"/>
              </a:ext>
            </a:extLst>
          </p:cNvPr>
          <p:cNvSpPr>
            <a:spLocks xmlns:a="http://schemas.openxmlformats.org/drawingml/2006/main" noGrp="1"/>
          </p:cNvSpPr>
          <p:nvPr/>
        </p:nvSpPr>
        <p:spPr>
          <a:xfrm xmlns:a="http://schemas.openxmlformats.org/drawingml/2006/main">
            <a:off x="4219575" y="3524250"/>
            <a:ext cx="3476625" cy="16573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2FE7A02-6631-4DAB-A111-01D06E9F3338}"/>
              </a:ext>
            </a:extLst>
          </p:cNvPr>
          <p:cNvSpPr>
            <a:spLocks xmlns:a="http://schemas.openxmlformats.org/drawingml/2006/main" noGrp="1"/>
          </p:cNvSpPr>
          <p:nvPr/>
        </p:nvSpPr>
        <p:spPr>
          <a:xfrm xmlns:a="http://schemas.openxmlformats.org/drawingml/2006/main">
            <a:off x="4429125" y="37147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사람</a:t>
            </a:r>
          </a:p>
        </p:txBody>
      </p:sp>
      <p:sp>
        <p:nvSpPr>
          <p:cNvPr id="17" name="">
            <a:extLst xmlns:a="http://schemas.openxmlformats.org/drawingml/2006/main">
              <a:ext uri="{FF2B5EF4-FFF2-40B4-BE49-F238E27FC236}">
                <a16:creationId xmlns:a16="http://schemas.microsoft.com/office/drawing/2014/main" id="{FA5E9595-4E06-47AB-9E17-DDEFA5E0EEEE}"/>
              </a:ext>
            </a:extLst>
          </p:cNvPr>
          <p:cNvSpPr>
            <a:spLocks xmlns:a="http://schemas.openxmlformats.org/drawingml/2006/main" noGrp="1"/>
          </p:cNvSpPr>
          <p:nvPr/>
        </p:nvSpPr>
        <p:spPr>
          <a:xfrm xmlns:a="http://schemas.openxmlformats.org/drawingml/2006/main">
            <a:off x="4429125" y="4181475"/>
            <a:ext cx="304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무수정 승인율</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수정 시간 · 거절 사유</a:t>
            </a:r>
          </a:p>
        </p:txBody>
      </p:sp>
      <p:sp>
        <p:nvSpPr>
          <p:cNvPr id="18" name="">
            <a:extLst xmlns:a="http://schemas.openxmlformats.org/drawingml/2006/main">
              <a:ext uri="{FF2B5EF4-FFF2-40B4-BE49-F238E27FC236}">
                <a16:creationId xmlns:a16="http://schemas.microsoft.com/office/drawing/2014/main" id="{6927FEF8-92E2-4068-901E-9BC34851BEEC}"/>
              </a:ext>
            </a:extLst>
          </p:cNvPr>
          <p:cNvSpPr>
            <a:spLocks xmlns:a="http://schemas.openxmlformats.org/drawingml/2006/main" noGrp="1"/>
          </p:cNvSpPr>
          <p:nvPr/>
        </p:nvSpPr>
        <p:spPr>
          <a:xfrm xmlns:a="http://schemas.openxmlformats.org/drawingml/2006/main">
            <a:off x="8039100" y="3524250"/>
            <a:ext cx="3476625" cy="16573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DB6C578-E6C7-40B7-BE97-06F0971AA239}"/>
              </a:ext>
            </a:extLst>
          </p:cNvPr>
          <p:cNvSpPr>
            <a:spLocks xmlns:a="http://schemas.openxmlformats.org/drawingml/2006/main" noGrp="1"/>
          </p:cNvSpPr>
          <p:nvPr/>
        </p:nvSpPr>
        <p:spPr>
          <a:xfrm xmlns:a="http://schemas.openxmlformats.org/drawingml/2006/main">
            <a:off x="8248650" y="37147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운영</a:t>
            </a:r>
          </a:p>
        </p:txBody>
      </p:sp>
      <p:sp>
        <p:nvSpPr>
          <p:cNvPr id="20" name="">
            <a:extLst xmlns:a="http://schemas.openxmlformats.org/drawingml/2006/main">
              <a:ext uri="{FF2B5EF4-FFF2-40B4-BE49-F238E27FC236}">
                <a16:creationId xmlns:a16="http://schemas.microsoft.com/office/drawing/2014/main" id="{F4130FF3-B310-4063-A2A6-4DFF9F3943C4}"/>
              </a:ext>
            </a:extLst>
          </p:cNvPr>
          <p:cNvSpPr>
            <a:spLocks xmlns:a="http://schemas.openxmlformats.org/drawingml/2006/main" noGrp="1"/>
          </p:cNvSpPr>
          <p:nvPr/>
        </p:nvSpPr>
        <p:spPr>
          <a:xfrm xmlns:a="http://schemas.openxmlformats.org/drawingml/2006/main">
            <a:off x="8248650" y="4181475"/>
            <a:ext cx="304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tokens/s · p50/p95</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타임아웃 · 메모리</a:t>
            </a:r>
          </a:p>
        </p:txBody>
      </p:sp>
      <p:sp>
        <p:nvSpPr>
          <p:cNvPr id="21" name="">
            <a:extLst xmlns:a="http://schemas.openxmlformats.org/drawingml/2006/main">
              <a:ext uri="{FF2B5EF4-FFF2-40B4-BE49-F238E27FC236}">
                <a16:creationId xmlns:a16="http://schemas.microsoft.com/office/drawing/2014/main" id="{D91D35B9-2F8B-4A64-B0D9-7AE02D7E3ED4}"/>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핵심 KPI: 위험가중 성공률 = 변경 유형별 성공률 × 업무 영향도 × 사람 검토 비용</a:t>
            </a:r>
          </a:p>
        </p:txBody>
      </p:sp>
    </p:spTree>
    <p:extLst>
      <p:ext uri="{BB962C8B-B14F-4D97-AF65-F5344CB8AC3E}">
        <p14:creationId xmlns:p14="http://schemas.microsoft.com/office/powerpoint/2010/main" val="46041703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F9D016-CF94-468F-B10F-D3DA78DF9EF0}"/>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04"/>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과거 개정과 실제 코드 변경을 재생해 모델·검색·프롬프트를 같은 조건에서 비교한다</a:t>
            </a:r>
          </a:p>
        </p:txBody>
      </p:sp>
      <p:sp>
        <p:nvSpPr>
          <p:cNvPr id="2" name="">
            <a:extLst xmlns:a="http://schemas.openxmlformats.org/drawingml/2006/main">
              <a:ext uri="{FF2B5EF4-FFF2-40B4-BE49-F238E27FC236}">
                <a16:creationId xmlns:a16="http://schemas.microsoft.com/office/drawing/2014/main" id="{522D87CD-3F18-487C-B50F-491F1F464267}"/>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9085F6D-216A-4A99-8053-726DFBA83F13}"/>
              </a:ext>
            </a:extLst>
          </p:cNvPr>
          <p:cNvSpPr>
            <a:spLocks xmlns:a="http://schemas.openxmlformats.org/drawingml/2006/main" noGrp="1"/>
          </p:cNvSpPr>
          <p:nvPr/>
        </p:nvSpPr>
        <p:spPr>
          <a:xfrm xmlns:a="http://schemas.openxmlformats.org/drawingml/2006/main">
            <a:off x="1924050" y="2781300"/>
            <a:ext cx="36195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DAB983C-79BD-488C-A6E4-C4DDDCAFA05D}"/>
              </a:ext>
            </a:extLst>
          </p:cNvPr>
          <p:cNvSpPr>
            <a:spLocks xmlns:a="http://schemas.openxmlformats.org/drawingml/2006/main" noGrp="1"/>
          </p:cNvSpPr>
          <p:nvPr/>
        </p:nvSpPr>
        <p:spPr>
          <a:xfrm xmlns:a="http://schemas.openxmlformats.org/drawingml/2006/main">
            <a:off x="400050" y="2209800"/>
            <a:ext cx="1524000" cy="11811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73AD15-4914-4DD8-84D8-26DFC954483A}"/>
              </a:ext>
            </a:extLst>
          </p:cNvPr>
          <p:cNvSpPr>
            <a:spLocks xmlns:a="http://schemas.openxmlformats.org/drawingml/2006/main" noGrp="1"/>
          </p:cNvSpPr>
          <p:nvPr/>
        </p:nvSpPr>
        <p:spPr>
          <a:xfrm xmlns:a="http://schemas.openxmlformats.org/drawingml/2006/main">
            <a:off x="495300" y="24288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과거 법령</a:t>
            </a:r>
          </a:p>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전후 원문</a:t>
            </a:r>
          </a:p>
        </p:txBody>
      </p:sp>
      <p:sp>
        <p:nvSpPr>
          <p:cNvPr id="6" name="">
            <a:extLst xmlns:a="http://schemas.openxmlformats.org/drawingml/2006/main">
              <a:ext uri="{FF2B5EF4-FFF2-40B4-BE49-F238E27FC236}">
                <a16:creationId xmlns:a16="http://schemas.microsoft.com/office/drawing/2014/main" id="{A78DD6DD-556E-4512-9657-BEA8DB182187}"/>
              </a:ext>
            </a:extLst>
          </p:cNvPr>
          <p:cNvSpPr>
            <a:spLocks xmlns:a="http://schemas.openxmlformats.org/drawingml/2006/main" noGrp="1"/>
          </p:cNvSpPr>
          <p:nvPr/>
        </p:nvSpPr>
        <p:spPr>
          <a:xfrm xmlns:a="http://schemas.openxmlformats.org/drawingml/2006/main">
            <a:off x="3810000" y="2781300"/>
            <a:ext cx="36195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3D2FA01-DECC-473D-AA9D-B089F71AC5E1}"/>
              </a:ext>
            </a:extLst>
          </p:cNvPr>
          <p:cNvSpPr>
            <a:spLocks xmlns:a="http://schemas.openxmlformats.org/drawingml/2006/main" noGrp="1"/>
          </p:cNvSpPr>
          <p:nvPr/>
        </p:nvSpPr>
        <p:spPr>
          <a:xfrm xmlns:a="http://schemas.openxmlformats.org/drawingml/2006/main">
            <a:off x="2286000" y="2209800"/>
            <a:ext cx="1524000" cy="11811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A6F60E7-8915-4898-BE33-ADE438E42AC1}"/>
              </a:ext>
            </a:extLst>
          </p:cNvPr>
          <p:cNvSpPr>
            <a:spLocks xmlns:a="http://schemas.openxmlformats.org/drawingml/2006/main" noGrp="1"/>
          </p:cNvSpPr>
          <p:nvPr/>
        </p:nvSpPr>
        <p:spPr>
          <a:xfrm xmlns:a="http://schemas.openxmlformats.org/drawingml/2006/main">
            <a:off x="2381250" y="24288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당시 코드</a:t>
            </a:r>
          </a:p>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commit 고정</a:t>
            </a:r>
          </a:p>
        </p:txBody>
      </p:sp>
      <p:sp>
        <p:nvSpPr>
          <p:cNvPr id="9" name="">
            <a:extLst xmlns:a="http://schemas.openxmlformats.org/drawingml/2006/main">
              <a:ext uri="{FF2B5EF4-FFF2-40B4-BE49-F238E27FC236}">
                <a16:creationId xmlns:a16="http://schemas.microsoft.com/office/drawing/2014/main" id="{1447AB5D-CA47-4AE6-AEBB-B276FF58EFD4}"/>
              </a:ext>
            </a:extLst>
          </p:cNvPr>
          <p:cNvSpPr>
            <a:spLocks xmlns:a="http://schemas.openxmlformats.org/drawingml/2006/main" noGrp="1"/>
          </p:cNvSpPr>
          <p:nvPr/>
        </p:nvSpPr>
        <p:spPr>
          <a:xfrm xmlns:a="http://schemas.openxmlformats.org/drawingml/2006/main">
            <a:off x="5695950" y="2781300"/>
            <a:ext cx="36195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B7CE553-774E-422C-8ED9-4EC34681861A}"/>
              </a:ext>
            </a:extLst>
          </p:cNvPr>
          <p:cNvSpPr>
            <a:spLocks xmlns:a="http://schemas.openxmlformats.org/drawingml/2006/main" noGrp="1"/>
          </p:cNvSpPr>
          <p:nvPr/>
        </p:nvSpPr>
        <p:spPr>
          <a:xfrm xmlns:a="http://schemas.openxmlformats.org/drawingml/2006/main">
            <a:off x="4171950" y="2209800"/>
            <a:ext cx="1524000" cy="11811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9334BE-B448-476F-9258-D6A7D4D54C16}"/>
              </a:ext>
            </a:extLst>
          </p:cNvPr>
          <p:cNvSpPr>
            <a:spLocks xmlns:a="http://schemas.openxmlformats.org/drawingml/2006/main" noGrp="1"/>
          </p:cNvSpPr>
          <p:nvPr/>
        </p:nvSpPr>
        <p:spPr>
          <a:xfrm xmlns:a="http://schemas.openxmlformats.org/drawingml/2006/main">
            <a:off x="4267200" y="24288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후보 검색</a:t>
            </a:r>
          </a:p>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전략 비교</a:t>
            </a:r>
          </a:p>
        </p:txBody>
      </p:sp>
      <p:sp>
        <p:nvSpPr>
          <p:cNvPr id="12" name="">
            <a:extLst xmlns:a="http://schemas.openxmlformats.org/drawingml/2006/main">
              <a:ext uri="{FF2B5EF4-FFF2-40B4-BE49-F238E27FC236}">
                <a16:creationId xmlns:a16="http://schemas.microsoft.com/office/drawing/2014/main" id="{EB0110A6-52BA-477E-A924-E61680E023F5}"/>
              </a:ext>
            </a:extLst>
          </p:cNvPr>
          <p:cNvSpPr>
            <a:spLocks xmlns:a="http://schemas.openxmlformats.org/drawingml/2006/main" noGrp="1"/>
          </p:cNvSpPr>
          <p:nvPr/>
        </p:nvSpPr>
        <p:spPr>
          <a:xfrm xmlns:a="http://schemas.openxmlformats.org/drawingml/2006/main">
            <a:off x="7581900" y="2781300"/>
            <a:ext cx="36195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9D5673-378E-47E0-995F-900F1590C80B}"/>
              </a:ext>
            </a:extLst>
          </p:cNvPr>
          <p:cNvSpPr>
            <a:spLocks xmlns:a="http://schemas.openxmlformats.org/drawingml/2006/main" noGrp="1"/>
          </p:cNvSpPr>
          <p:nvPr/>
        </p:nvSpPr>
        <p:spPr>
          <a:xfrm xmlns:a="http://schemas.openxmlformats.org/drawingml/2006/main">
            <a:off x="6057900" y="2209800"/>
            <a:ext cx="1524000" cy="11811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65B172A-FA83-4A15-AC3A-0EC8AAAD8830}"/>
              </a:ext>
            </a:extLst>
          </p:cNvPr>
          <p:cNvSpPr>
            <a:spLocks xmlns:a="http://schemas.openxmlformats.org/drawingml/2006/main" noGrp="1"/>
          </p:cNvSpPr>
          <p:nvPr/>
        </p:nvSpPr>
        <p:spPr>
          <a:xfrm xmlns:a="http://schemas.openxmlformats.org/drawingml/2006/main">
            <a:off x="6153150" y="24288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패치 생성</a:t>
            </a:r>
          </a:p>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모델 비교</a:t>
            </a:r>
          </a:p>
        </p:txBody>
      </p:sp>
      <p:sp>
        <p:nvSpPr>
          <p:cNvPr id="15" name="">
            <a:extLst xmlns:a="http://schemas.openxmlformats.org/drawingml/2006/main">
              <a:ext uri="{FF2B5EF4-FFF2-40B4-BE49-F238E27FC236}">
                <a16:creationId xmlns:a16="http://schemas.microsoft.com/office/drawing/2014/main" id="{B2187C36-619A-480B-AE5B-33E48218FEBE}"/>
              </a:ext>
            </a:extLst>
          </p:cNvPr>
          <p:cNvSpPr>
            <a:spLocks xmlns:a="http://schemas.openxmlformats.org/drawingml/2006/main" noGrp="1"/>
          </p:cNvSpPr>
          <p:nvPr/>
        </p:nvSpPr>
        <p:spPr>
          <a:xfrm xmlns:a="http://schemas.openxmlformats.org/drawingml/2006/main">
            <a:off x="9467850" y="2781300"/>
            <a:ext cx="36195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380191E-A87F-4535-B7AE-E774C941AB14}"/>
              </a:ext>
            </a:extLst>
          </p:cNvPr>
          <p:cNvSpPr>
            <a:spLocks xmlns:a="http://schemas.openxmlformats.org/drawingml/2006/main" noGrp="1"/>
          </p:cNvSpPr>
          <p:nvPr/>
        </p:nvSpPr>
        <p:spPr>
          <a:xfrm xmlns:a="http://schemas.openxmlformats.org/drawingml/2006/main">
            <a:off x="7943850" y="2209800"/>
            <a:ext cx="1524000" cy="11811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DC41542-92B8-4ABE-BD03-E16D388895E7}"/>
              </a:ext>
            </a:extLst>
          </p:cNvPr>
          <p:cNvSpPr>
            <a:spLocks xmlns:a="http://schemas.openxmlformats.org/drawingml/2006/main" noGrp="1"/>
          </p:cNvSpPr>
          <p:nvPr/>
        </p:nvSpPr>
        <p:spPr>
          <a:xfrm xmlns:a="http://schemas.openxmlformats.org/drawingml/2006/main">
            <a:off x="8039100" y="24288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스크래치</a:t>
            </a:r>
          </a:p>
          <a:p xmlns:a="http://schemas.openxmlformats.org/drawingml/2006/main">
            <a:pPr algn="ctr">
              <a:defRPr sz="1425" b="1">
                <a:solidFill>
                  <a:srgbClr val="0B0D12"/>
                </a:solidFill>
                <a:latin typeface="Arial"/>
                <a:ea typeface="Arial"/>
                <a:cs typeface="Arial"/>
              </a:defRPr>
            </a:pPr>
            <a:r>
              <a:rPr sz="1425" b="1">
                <a:solidFill>
                  <a:srgbClr val="0B0D12"/>
                </a:solidFill>
                <a:latin typeface="Arial"/>
                <a:ea typeface="Arial"/>
                <a:cs typeface="Arial"/>
              </a:rPr>
              <a:t>테스트</a:t>
            </a:r>
          </a:p>
        </p:txBody>
      </p:sp>
      <p:sp>
        <p:nvSpPr>
          <p:cNvPr id="18" name="">
            <a:extLst xmlns:a="http://schemas.openxmlformats.org/drawingml/2006/main">
              <a:ext uri="{FF2B5EF4-FFF2-40B4-BE49-F238E27FC236}">
                <a16:creationId xmlns:a16="http://schemas.microsoft.com/office/drawing/2014/main" id="{4F5D5329-E4F3-4CAD-BCF4-EC08DFC9D77C}"/>
              </a:ext>
            </a:extLst>
          </p:cNvPr>
          <p:cNvSpPr>
            <a:spLocks xmlns:a="http://schemas.openxmlformats.org/drawingml/2006/main" noGrp="1"/>
          </p:cNvSpPr>
          <p:nvPr/>
        </p:nvSpPr>
        <p:spPr>
          <a:xfrm xmlns:a="http://schemas.openxmlformats.org/drawingml/2006/main">
            <a:off x="9829800" y="2209800"/>
            <a:ext cx="1524000" cy="1181100"/>
          </a:xfrm>
          <a:prstGeom xmlns:a="http://schemas.openxmlformats.org/drawingml/2006/main" prst="rect">
            <a:avLst/>
          </a:prstGeom>
          <a:solidFill xmlns:a="http://schemas.openxmlformats.org/drawingml/2006/main">
            <a:srgbClr val="0B0D1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5BAF51-FA9F-4915-B200-C0D27724A651}"/>
              </a:ext>
            </a:extLst>
          </p:cNvPr>
          <p:cNvSpPr>
            <a:spLocks xmlns:a="http://schemas.openxmlformats.org/drawingml/2006/main" noGrp="1"/>
          </p:cNvSpPr>
          <p:nvPr/>
        </p:nvSpPr>
        <p:spPr>
          <a:xfrm xmlns:a="http://schemas.openxmlformats.org/drawingml/2006/main">
            <a:off x="9925050" y="24288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실제 변경과</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차이 측정</a:t>
            </a:r>
          </a:p>
        </p:txBody>
      </p:sp>
      <p:sp>
        <p:nvSpPr>
          <p:cNvPr id="20" name="">
            <a:extLst xmlns:a="http://schemas.openxmlformats.org/drawingml/2006/main">
              <a:ext uri="{FF2B5EF4-FFF2-40B4-BE49-F238E27FC236}">
                <a16:creationId xmlns:a16="http://schemas.microsoft.com/office/drawing/2014/main" id="{969EF24B-48BB-4852-9C42-2DF531CF18A5}"/>
              </a:ext>
            </a:extLst>
          </p:cNvPr>
          <p:cNvSpPr>
            <a:spLocks xmlns:a="http://schemas.openxmlformats.org/drawingml/2006/main" noGrp="1"/>
          </p:cNvSpPr>
          <p:nvPr/>
        </p:nvSpPr>
        <p:spPr>
          <a:xfrm xmlns:a="http://schemas.openxmlformats.org/drawingml/2006/main">
            <a:off x="400050" y="40100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고정 조건</a:t>
            </a:r>
          </a:p>
        </p:txBody>
      </p:sp>
      <p:sp>
        <p:nvSpPr>
          <p:cNvPr id="21" name="">
            <a:extLst xmlns:a="http://schemas.openxmlformats.org/drawingml/2006/main">
              <a:ext uri="{FF2B5EF4-FFF2-40B4-BE49-F238E27FC236}">
                <a16:creationId xmlns:a16="http://schemas.microsoft.com/office/drawing/2014/main" id="{5F7014DF-48F3-4C46-B0CF-F8DD0DCE2175}"/>
              </a:ext>
            </a:extLst>
          </p:cNvPr>
          <p:cNvSpPr>
            <a:spLocks xmlns:a="http://schemas.openxmlformats.org/drawingml/2006/main" noGrp="1"/>
          </p:cNvSpPr>
          <p:nvPr/>
        </p:nvSpPr>
        <p:spPr>
          <a:xfrm xmlns:a="http://schemas.openxmlformats.org/drawingml/2006/main">
            <a:off x="2095500" y="3981450"/>
            <a:ext cx="923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법령 입력 · 코드 commit · 모델/양자화 · 컨텍스트 · temperature · top-k · 프롬프트 버전</a:t>
            </a:r>
          </a:p>
        </p:txBody>
      </p:sp>
      <p:sp>
        <p:nvSpPr>
          <p:cNvPr id="22" name="">
            <a:extLst xmlns:a="http://schemas.openxmlformats.org/drawingml/2006/main">
              <a:ext uri="{FF2B5EF4-FFF2-40B4-BE49-F238E27FC236}">
                <a16:creationId xmlns:a16="http://schemas.microsoft.com/office/drawing/2014/main" id="{E0988BFE-9196-4326-9F5A-41D531BED4F7}"/>
              </a:ext>
            </a:extLst>
          </p:cNvPr>
          <p:cNvSpPr>
            <a:spLocks xmlns:a="http://schemas.openxmlformats.org/drawingml/2006/main" noGrp="1"/>
          </p:cNvSpPr>
          <p:nvPr/>
        </p:nvSpPr>
        <p:spPr>
          <a:xfrm xmlns:a="http://schemas.openxmlformats.org/drawingml/2006/main">
            <a:off x="400050" y="4695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비교 실험</a:t>
            </a:r>
          </a:p>
        </p:txBody>
      </p:sp>
      <p:sp>
        <p:nvSpPr>
          <p:cNvPr id="23" name="">
            <a:extLst xmlns:a="http://schemas.openxmlformats.org/drawingml/2006/main">
              <a:ext uri="{FF2B5EF4-FFF2-40B4-BE49-F238E27FC236}">
                <a16:creationId xmlns:a16="http://schemas.microsoft.com/office/drawing/2014/main" id="{4F6A0B98-1BBD-4509-A568-70F8BD294ACA}"/>
              </a:ext>
            </a:extLst>
          </p:cNvPr>
          <p:cNvSpPr>
            <a:spLocks xmlns:a="http://schemas.openxmlformats.org/drawingml/2006/main" noGrp="1"/>
          </p:cNvSpPr>
          <p:nvPr/>
        </p:nvSpPr>
        <p:spPr>
          <a:xfrm xmlns:a="http://schemas.openxmlformats.org/drawingml/2006/main">
            <a:off x="2095500" y="46672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RAG only vs +사전 vs +상수 vs +검증 매핑  /  8B vs 14B  /  4K vs 16K context</a:t>
            </a:r>
          </a:p>
        </p:txBody>
      </p:sp>
      <p:sp>
        <p:nvSpPr>
          <p:cNvPr id="24" name="">
            <a:extLst xmlns:a="http://schemas.openxmlformats.org/drawingml/2006/main">
              <a:ext uri="{FF2B5EF4-FFF2-40B4-BE49-F238E27FC236}">
                <a16:creationId xmlns:a16="http://schemas.microsoft.com/office/drawing/2014/main" id="{400E75EE-92FA-43BA-B6A4-743E7D940F86}"/>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산출물: run_id · 입력/출력 hash · 검색 근거 · patch · golden.log · 사람 판정</a:t>
            </a:r>
          </a:p>
        </p:txBody>
      </p:sp>
    </p:spTree>
    <p:extLst>
      <p:ext uri="{BB962C8B-B14F-4D97-AF65-F5344CB8AC3E}">
        <p14:creationId xmlns:p14="http://schemas.microsoft.com/office/powerpoint/2010/main" val="13687913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2C9273-41E8-4C05-8316-C2288C184CAB}"/>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데이터가 쌓일수록 모델 자체보다 ‘정답 경로’가 먼저 좋아진다</a:t>
            </a:r>
          </a:p>
        </p:txBody>
      </p:sp>
      <p:sp>
        <p:nvSpPr>
          <p:cNvPr id="2" name="">
            <a:extLst xmlns:a="http://schemas.openxmlformats.org/drawingml/2006/main">
              <a:ext uri="{FF2B5EF4-FFF2-40B4-BE49-F238E27FC236}">
                <a16:creationId xmlns:a16="http://schemas.microsoft.com/office/drawing/2014/main" id="{3929B109-0128-465C-9502-9653063F9C69}"/>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27A632F-4F16-41E9-A0BB-A14FCC9C5B8E}"/>
              </a:ext>
            </a:extLst>
          </p:cNvPr>
          <p:cNvSpPr>
            <a:spLocks xmlns:a="http://schemas.openxmlformats.org/drawingml/2006/main" noGrp="1"/>
          </p:cNvSpPr>
          <p:nvPr/>
        </p:nvSpPr>
        <p:spPr>
          <a:xfrm xmlns:a="http://schemas.openxmlformats.org/drawingml/2006/main">
            <a:off x="2924175" y="3162300"/>
            <a:ext cx="32385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96E85E4-E477-45E8-A080-F465D1859E4D}"/>
              </a:ext>
            </a:extLst>
          </p:cNvPr>
          <p:cNvSpPr>
            <a:spLocks xmlns:a="http://schemas.openxmlformats.org/drawingml/2006/main" noGrp="1"/>
          </p:cNvSpPr>
          <p:nvPr/>
        </p:nvSpPr>
        <p:spPr>
          <a:xfrm xmlns:a="http://schemas.openxmlformats.org/drawingml/2006/main">
            <a:off x="400050" y="15240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초기</a:t>
            </a:r>
          </a:p>
        </p:txBody>
      </p:sp>
      <p:sp>
        <p:nvSpPr>
          <p:cNvPr id="5" name="">
            <a:extLst xmlns:a="http://schemas.openxmlformats.org/drawingml/2006/main">
              <a:ext uri="{FF2B5EF4-FFF2-40B4-BE49-F238E27FC236}">
                <a16:creationId xmlns:a16="http://schemas.microsoft.com/office/drawing/2014/main" id="{9101763A-3CA8-405F-A952-84A78F42F77C}"/>
              </a:ext>
            </a:extLst>
          </p:cNvPr>
          <p:cNvSpPr>
            <a:spLocks xmlns:a="http://schemas.openxmlformats.org/drawingml/2006/main" noGrp="1"/>
          </p:cNvSpPr>
          <p:nvPr/>
        </p:nvSpPr>
        <p:spPr>
          <a:xfrm xmlns:a="http://schemas.openxmlformats.org/drawingml/2006/main">
            <a:off x="400050" y="2000250"/>
            <a:ext cx="2476500" cy="23812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751662-9B42-4984-8C96-D175C6ADDAC1}"/>
              </a:ext>
            </a:extLst>
          </p:cNvPr>
          <p:cNvSpPr>
            <a:spLocks xmlns:a="http://schemas.openxmlformats.org/drawingml/2006/main" noGrp="1"/>
          </p:cNvSpPr>
          <p:nvPr/>
        </p:nvSpPr>
        <p:spPr>
          <a:xfrm xmlns:a="http://schemas.openxmlformats.org/drawingml/2006/main">
            <a:off x="590550" y="2305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RAG·사전·상수로</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후보를 추정</a:t>
            </a:r>
          </a:p>
        </p:txBody>
      </p:sp>
      <p:sp>
        <p:nvSpPr>
          <p:cNvPr id="7" name="">
            <a:extLst xmlns:a="http://schemas.openxmlformats.org/drawingml/2006/main">
              <a:ext uri="{FF2B5EF4-FFF2-40B4-BE49-F238E27FC236}">
                <a16:creationId xmlns:a16="http://schemas.microsoft.com/office/drawing/2014/main" id="{3B6DB16D-97C1-412B-BF2D-66FBB5142944}"/>
              </a:ext>
            </a:extLst>
          </p:cNvPr>
          <p:cNvSpPr>
            <a:spLocks xmlns:a="http://schemas.openxmlformats.org/drawingml/2006/main" noGrp="1"/>
          </p:cNvSpPr>
          <p:nvPr/>
        </p:nvSpPr>
        <p:spPr>
          <a:xfrm xmlns:a="http://schemas.openxmlformats.org/drawingml/2006/main">
            <a:off x="590550" y="331470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검색 변동 큼</a:t>
            </a:r>
          </a:p>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사람 검증 부담 큼</a:t>
            </a:r>
          </a:p>
        </p:txBody>
      </p:sp>
      <p:sp>
        <p:nvSpPr>
          <p:cNvPr id="8" name="">
            <a:extLst xmlns:a="http://schemas.openxmlformats.org/drawingml/2006/main">
              <a:ext uri="{FF2B5EF4-FFF2-40B4-BE49-F238E27FC236}">
                <a16:creationId xmlns:a16="http://schemas.microsoft.com/office/drawing/2014/main" id="{65DC3B63-D524-42B1-B9BB-0CB07E39DEEC}"/>
              </a:ext>
            </a:extLst>
          </p:cNvPr>
          <p:cNvSpPr>
            <a:spLocks xmlns:a="http://schemas.openxmlformats.org/drawingml/2006/main" noGrp="1"/>
          </p:cNvSpPr>
          <p:nvPr/>
        </p:nvSpPr>
        <p:spPr>
          <a:xfrm xmlns:a="http://schemas.openxmlformats.org/drawingml/2006/main">
            <a:off x="5772150" y="3162300"/>
            <a:ext cx="32385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E0600B-48D5-4C0F-A38B-DA9C05B97E37}"/>
              </a:ext>
            </a:extLst>
          </p:cNvPr>
          <p:cNvSpPr>
            <a:spLocks xmlns:a="http://schemas.openxmlformats.org/drawingml/2006/main" noGrp="1"/>
          </p:cNvSpPr>
          <p:nvPr/>
        </p:nvSpPr>
        <p:spPr>
          <a:xfrm xmlns:a="http://schemas.openxmlformats.org/drawingml/2006/main">
            <a:off x="3248025" y="15240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1개 시즌</a:t>
            </a:r>
          </a:p>
        </p:txBody>
      </p:sp>
      <p:sp>
        <p:nvSpPr>
          <p:cNvPr id="10" name="">
            <a:extLst xmlns:a="http://schemas.openxmlformats.org/drawingml/2006/main">
              <a:ext uri="{FF2B5EF4-FFF2-40B4-BE49-F238E27FC236}">
                <a16:creationId xmlns:a16="http://schemas.microsoft.com/office/drawing/2014/main" id="{8C0EBDAE-9F93-48CB-9104-8C6D4519A9A6}"/>
              </a:ext>
            </a:extLst>
          </p:cNvPr>
          <p:cNvSpPr>
            <a:spLocks xmlns:a="http://schemas.openxmlformats.org/drawingml/2006/main" noGrp="1"/>
          </p:cNvSpPr>
          <p:nvPr/>
        </p:nvSpPr>
        <p:spPr>
          <a:xfrm xmlns:a="http://schemas.openxmlformats.org/drawingml/2006/main">
            <a:off x="3248025" y="2000250"/>
            <a:ext cx="2476500" cy="23812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5D95642-2080-4B27-9EBC-9F3DE0E62183}"/>
              </a:ext>
            </a:extLst>
          </p:cNvPr>
          <p:cNvSpPr>
            <a:spLocks xmlns:a="http://schemas.openxmlformats.org/drawingml/2006/main" noGrp="1"/>
          </p:cNvSpPr>
          <p:nvPr/>
        </p:nvSpPr>
        <p:spPr>
          <a:xfrm xmlns:a="http://schemas.openxmlformats.org/drawingml/2006/main">
            <a:off x="3438525" y="2305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조문↔파일↔심볼</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검증 매핑 축적</a:t>
            </a:r>
          </a:p>
        </p:txBody>
      </p:sp>
      <p:sp>
        <p:nvSpPr>
          <p:cNvPr id="12" name="">
            <a:extLst xmlns:a="http://schemas.openxmlformats.org/drawingml/2006/main">
              <a:ext uri="{FF2B5EF4-FFF2-40B4-BE49-F238E27FC236}">
                <a16:creationId xmlns:a16="http://schemas.microsoft.com/office/drawing/2014/main" id="{9B4793D2-FDC6-4E04-A648-3BB96E3D11F1}"/>
              </a:ext>
            </a:extLst>
          </p:cNvPr>
          <p:cNvSpPr>
            <a:spLocks xmlns:a="http://schemas.openxmlformats.org/drawingml/2006/main" noGrp="1"/>
          </p:cNvSpPr>
          <p:nvPr/>
        </p:nvSpPr>
        <p:spPr>
          <a:xfrm xmlns:a="http://schemas.openxmlformats.org/drawingml/2006/main">
            <a:off x="3438525" y="331470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같은 조문은</a:t>
            </a:r>
          </a:p>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검증 위치로 직행</a:t>
            </a:r>
          </a:p>
        </p:txBody>
      </p:sp>
      <p:sp>
        <p:nvSpPr>
          <p:cNvPr id="13" name="">
            <a:extLst xmlns:a="http://schemas.openxmlformats.org/drawingml/2006/main">
              <a:ext uri="{FF2B5EF4-FFF2-40B4-BE49-F238E27FC236}">
                <a16:creationId xmlns:a16="http://schemas.microsoft.com/office/drawing/2014/main" id="{44DCD7FD-237F-41C1-A094-834FA46F409B}"/>
              </a:ext>
            </a:extLst>
          </p:cNvPr>
          <p:cNvSpPr>
            <a:spLocks xmlns:a="http://schemas.openxmlformats.org/drawingml/2006/main" noGrp="1"/>
          </p:cNvSpPr>
          <p:nvPr/>
        </p:nvSpPr>
        <p:spPr>
          <a:xfrm xmlns:a="http://schemas.openxmlformats.org/drawingml/2006/main">
            <a:off x="8620125" y="3162300"/>
            <a:ext cx="32385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317B37-71A0-4BAB-8271-E5C642E0DE63}"/>
              </a:ext>
            </a:extLst>
          </p:cNvPr>
          <p:cNvSpPr>
            <a:spLocks xmlns:a="http://schemas.openxmlformats.org/drawingml/2006/main" noGrp="1"/>
          </p:cNvSpPr>
          <p:nvPr/>
        </p:nvSpPr>
        <p:spPr>
          <a:xfrm xmlns:a="http://schemas.openxmlformats.org/drawingml/2006/main">
            <a:off x="6096000" y="15240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복수 시즌</a:t>
            </a:r>
          </a:p>
        </p:txBody>
      </p:sp>
      <p:sp>
        <p:nvSpPr>
          <p:cNvPr id="15" name="">
            <a:extLst xmlns:a="http://schemas.openxmlformats.org/drawingml/2006/main">
              <a:ext uri="{FF2B5EF4-FFF2-40B4-BE49-F238E27FC236}">
                <a16:creationId xmlns:a16="http://schemas.microsoft.com/office/drawing/2014/main" id="{277764EE-343A-48CA-8BD9-E5A780347952}"/>
              </a:ext>
            </a:extLst>
          </p:cNvPr>
          <p:cNvSpPr>
            <a:spLocks xmlns:a="http://schemas.openxmlformats.org/drawingml/2006/main" noGrp="1"/>
          </p:cNvSpPr>
          <p:nvPr/>
        </p:nvSpPr>
        <p:spPr>
          <a:xfrm xmlns:a="http://schemas.openxmlformats.org/drawingml/2006/main">
            <a:off x="6096000" y="2000250"/>
            <a:ext cx="2476500" cy="23812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85CBD0-7A14-4472-9D9C-4D38ABA21ED0}"/>
              </a:ext>
            </a:extLst>
          </p:cNvPr>
          <p:cNvSpPr>
            <a:spLocks xmlns:a="http://schemas.openxmlformats.org/drawingml/2006/main" noGrp="1"/>
          </p:cNvSpPr>
          <p:nvPr/>
        </p:nvSpPr>
        <p:spPr>
          <a:xfrm xmlns:a="http://schemas.openxmlformats.org/drawingml/2006/main">
            <a:off x="6286500" y="2305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승인·거절·골든 결과</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변경 유형별 데이터</a:t>
            </a:r>
          </a:p>
        </p:txBody>
      </p:sp>
      <p:sp>
        <p:nvSpPr>
          <p:cNvPr id="17" name="">
            <a:extLst xmlns:a="http://schemas.openxmlformats.org/drawingml/2006/main">
              <a:ext uri="{FF2B5EF4-FFF2-40B4-BE49-F238E27FC236}">
                <a16:creationId xmlns:a16="http://schemas.microsoft.com/office/drawing/2014/main" id="{641F013D-BEDB-4D59-B285-7E30D5D42CE0}"/>
              </a:ext>
            </a:extLst>
          </p:cNvPr>
          <p:cNvSpPr>
            <a:spLocks xmlns:a="http://schemas.openxmlformats.org/drawingml/2006/main" noGrp="1"/>
          </p:cNvSpPr>
          <p:nvPr/>
        </p:nvSpPr>
        <p:spPr>
          <a:xfrm xmlns:a="http://schemas.openxmlformats.org/drawingml/2006/main">
            <a:off x="6286500" y="331470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정책 threshold와</a:t>
            </a:r>
          </a:p>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후보 랭킹 개선</a:t>
            </a:r>
          </a:p>
        </p:txBody>
      </p:sp>
      <p:sp>
        <p:nvSpPr>
          <p:cNvPr id="18" name="">
            <a:extLst xmlns:a="http://schemas.openxmlformats.org/drawingml/2006/main">
              <a:ext uri="{FF2B5EF4-FFF2-40B4-BE49-F238E27FC236}">
                <a16:creationId xmlns:a16="http://schemas.microsoft.com/office/drawing/2014/main" id="{147576AD-5279-4BC5-BDDC-93C2BF56BCFC}"/>
              </a:ext>
            </a:extLst>
          </p:cNvPr>
          <p:cNvSpPr>
            <a:spLocks xmlns:a="http://schemas.openxmlformats.org/drawingml/2006/main" noGrp="1"/>
          </p:cNvSpPr>
          <p:nvPr/>
        </p:nvSpPr>
        <p:spPr>
          <a:xfrm xmlns:a="http://schemas.openxmlformats.org/drawingml/2006/main">
            <a:off x="8943975" y="15240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충분한 데이터</a:t>
            </a:r>
          </a:p>
        </p:txBody>
      </p:sp>
      <p:sp>
        <p:nvSpPr>
          <p:cNvPr id="19" name="">
            <a:extLst xmlns:a="http://schemas.openxmlformats.org/drawingml/2006/main">
              <a:ext uri="{FF2B5EF4-FFF2-40B4-BE49-F238E27FC236}">
                <a16:creationId xmlns:a16="http://schemas.microsoft.com/office/drawing/2014/main" id="{AD409D0F-D5D7-450D-A195-BBD6C0BAA534}"/>
              </a:ext>
            </a:extLst>
          </p:cNvPr>
          <p:cNvSpPr>
            <a:spLocks xmlns:a="http://schemas.openxmlformats.org/drawingml/2006/main" noGrp="1"/>
          </p:cNvSpPr>
          <p:nvPr/>
        </p:nvSpPr>
        <p:spPr>
          <a:xfrm xmlns:a="http://schemas.openxmlformats.org/drawingml/2006/main">
            <a:off x="8943975" y="2000250"/>
            <a:ext cx="2476500" cy="238125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E915237-C786-41DA-9340-7C060CADFF0D}"/>
              </a:ext>
            </a:extLst>
          </p:cNvPr>
          <p:cNvSpPr>
            <a:spLocks xmlns:a="http://schemas.openxmlformats.org/drawingml/2006/main" noGrp="1"/>
          </p:cNvSpPr>
          <p:nvPr/>
        </p:nvSpPr>
        <p:spPr>
          <a:xfrm xmlns:a="http://schemas.openxmlformats.org/drawingml/2006/main">
            <a:off x="9134475" y="2305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고품질 편집쌍과</a:t>
            </a:r>
          </a:p>
          <a:p xmlns:a="http://schemas.openxmlformats.org/drawingml/2006/main">
            <a:pPr algn="l">
              <a:defRPr sz="1575" b="1">
                <a:solidFill>
                  <a:srgbClr val="0B0D12"/>
                </a:solidFill>
                <a:latin typeface="Arial"/>
                <a:ea typeface="Arial"/>
                <a:cs typeface="Arial"/>
              </a:defRPr>
            </a:pPr>
            <a:r>
              <a:rPr sz="1575" b="1">
                <a:solidFill>
                  <a:srgbClr val="0B0D12"/>
                </a:solidFill>
                <a:latin typeface="Arial"/>
                <a:ea typeface="Arial"/>
                <a:cs typeface="Arial"/>
              </a:rPr>
              <a:t>실패 taxonomy</a:t>
            </a:r>
          </a:p>
        </p:txBody>
      </p:sp>
      <p:sp>
        <p:nvSpPr>
          <p:cNvPr id="21" name="">
            <a:extLst xmlns:a="http://schemas.openxmlformats.org/drawingml/2006/main">
              <a:ext uri="{FF2B5EF4-FFF2-40B4-BE49-F238E27FC236}">
                <a16:creationId xmlns:a16="http://schemas.microsoft.com/office/drawing/2014/main" id="{9C1AF789-6F18-4B85-B281-423EF0C8603F}"/>
              </a:ext>
            </a:extLst>
          </p:cNvPr>
          <p:cNvSpPr>
            <a:spLocks xmlns:a="http://schemas.openxmlformats.org/drawingml/2006/main" noGrp="1"/>
          </p:cNvSpPr>
          <p:nvPr/>
        </p:nvSpPr>
        <p:spPr>
          <a:xfrm xmlns:a="http://schemas.openxmlformats.org/drawingml/2006/main">
            <a:off x="9134475" y="331470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reranker·프롬프트·</a:t>
            </a:r>
          </a:p>
          <a:p xmlns:a="http://schemas.openxmlformats.org/drawingml/2006/main">
            <a:pPr algn="l">
              <a:defRPr sz="1425" b="0">
                <a:solidFill>
                  <a:srgbClr val="59616E"/>
                </a:solidFill>
                <a:latin typeface="Arial"/>
                <a:ea typeface="Arial"/>
                <a:cs typeface="Arial"/>
              </a:defRPr>
            </a:pPr>
            <a:r>
              <a:rPr sz="1425" b="0">
                <a:solidFill>
                  <a:srgbClr val="59616E"/>
                </a:solidFill>
                <a:latin typeface="Arial"/>
                <a:ea typeface="Arial"/>
                <a:cs typeface="Arial"/>
              </a:rPr>
              <a:t>선택적 튜닝 검토</a:t>
            </a:r>
          </a:p>
        </p:txBody>
      </p:sp>
      <p:sp>
        <p:nvSpPr>
          <p:cNvPr id="22" name="">
            <a:extLst xmlns:a="http://schemas.openxmlformats.org/drawingml/2006/main">
              <a:ext uri="{FF2B5EF4-FFF2-40B4-BE49-F238E27FC236}">
                <a16:creationId xmlns:a16="http://schemas.microsoft.com/office/drawing/2014/main" id="{E28DC335-D1C0-4541-B5B3-A972DCC9747E}"/>
              </a:ext>
            </a:extLst>
          </p:cNvPr>
          <p:cNvSpPr>
            <a:spLocks xmlns:a="http://schemas.openxmlformats.org/drawingml/2006/main" noGrp="1"/>
          </p:cNvSpPr>
          <p:nvPr/>
        </p:nvSpPr>
        <p:spPr>
          <a:xfrm xmlns:a="http://schemas.openxmlformats.org/drawingml/2006/main">
            <a:off x="400050" y="4895850"/>
            <a:ext cx="10991850" cy="685800"/>
          </a:xfrm>
          <a:prstGeom xmlns:a="http://schemas.openxmlformats.org/drawingml/2006/main" prst="rect">
            <a:avLst/>
          </a:prstGeom>
          <a:solidFill xmlns:a="http://schemas.openxmlformats.org/drawingml/2006/main">
            <a:srgbClr val="0B0D1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8F86CD9-6F4F-4807-910E-B23EDA9496E3}"/>
              </a:ext>
            </a:extLst>
          </p:cNvPr>
          <p:cNvSpPr>
            <a:spLocks xmlns:a="http://schemas.openxmlformats.org/drawingml/2006/main" noGrp="1"/>
          </p:cNvSpPr>
          <p:nvPr/>
        </p:nvSpPr>
        <p:spPr>
          <a:xfrm xmlns:a="http://schemas.openxmlformats.org/drawingml/2006/main">
            <a:off x="590550" y="5095875"/>
            <a:ext cx="1061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개선 기대: 검색 정확도↑ · 생성 컨텍스트↓ · 지연시간↓ · 사람 수정시간↓</a:t>
            </a:r>
          </a:p>
        </p:txBody>
      </p:sp>
      <p:sp>
        <p:nvSpPr>
          <p:cNvPr id="24" name="">
            <a:extLst xmlns:a="http://schemas.openxmlformats.org/drawingml/2006/main">
              <a:ext uri="{FF2B5EF4-FFF2-40B4-BE49-F238E27FC236}">
                <a16:creationId xmlns:a16="http://schemas.microsoft.com/office/drawing/2014/main" id="{2E9DA9F4-7F34-46EA-B287-F2AB5254087D}"/>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주의: 향상 폭은 데이터 품질·반복 조문 비율에 좌우됨. 현재 단계에서 수치 보장 불가</a:t>
            </a:r>
          </a:p>
        </p:txBody>
      </p:sp>
    </p:spTree>
    <p:extLst>
      <p:ext uri="{BB962C8B-B14F-4D97-AF65-F5344CB8AC3E}">
        <p14:creationId xmlns:p14="http://schemas.microsoft.com/office/powerpoint/2010/main" val="95161238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0D8C94-9067-4CFC-9B5E-1106258B5931}"/>
              </a:ext>
            </a:extLst>
          </p:cNvPr>
          <p:cNvSpPr>
            <a:spLocks xmlns:a="http://schemas.openxmlformats.org/drawingml/2006/main" noGrp="1"/>
          </p:cNvSpPr>
          <p:nvPr/>
        </p:nvSpPr>
        <p:spPr>
          <a:xfrm xmlns:a="http://schemas.openxmlformats.org/drawingml/2006/main">
            <a:off x="400050" y="3238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0B0D12"/>
                </a:solidFill>
                <a:latin typeface="Arial"/>
                <a:ea typeface="Arial"/>
                <a:cs typeface="Arial"/>
              </a:defRPr>
            </a:pPr>
            <a:r>
              <a:rPr sz="2925" b="1">
                <a:solidFill>
                  <a:srgbClr val="0B0D12"/>
                </a:solidFill>
                <a:latin typeface="Arial"/>
                <a:ea typeface="Arial"/>
                <a:cs typeface="Arial"/>
              </a:rPr>
              <a:t>완성 기준은 더 큰 모델이 아니라 ‘측정·재현·승인 가능한 변경관리’다</a:t>
            </a:r>
          </a:p>
        </p:txBody>
      </p:sp>
      <p:sp>
        <p:nvSpPr>
          <p:cNvPr id="2" name="">
            <a:extLst xmlns:a="http://schemas.openxmlformats.org/drawingml/2006/main">
              <a:ext uri="{FF2B5EF4-FFF2-40B4-BE49-F238E27FC236}">
                <a16:creationId xmlns:a16="http://schemas.microsoft.com/office/drawing/2014/main" id="{7FA046B5-25BF-4B47-8427-F9639D7D42B1}"/>
              </a:ext>
            </a:extLst>
          </p:cNvPr>
          <p:cNvSpPr>
            <a:spLocks xmlns:a="http://schemas.openxmlformats.org/drawingml/2006/main" noGrp="1"/>
          </p:cNvSpPr>
          <p:nvPr/>
        </p:nvSpPr>
        <p:spPr>
          <a:xfrm xmlns:a="http://schemas.openxmlformats.org/drawingml/2006/main">
            <a:off x="11220450" y="628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r">
              <a:defRPr sz="975" b="0">
                <a:solidFill>
                  <a:srgbClr val="59616E"/>
                </a:solidFill>
                <a:latin typeface="Arial"/>
                <a:ea typeface="Arial"/>
                <a:cs typeface="Arial"/>
              </a:defRPr>
            </a:pPr>
            <a:r>
              <a:rPr sz="975" b="0">
                <a:solidFill>
                  <a:srgbClr val="59616E"/>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1E3BCFFF-306C-4B84-B6B1-DB8AD9478F6E}"/>
              </a:ext>
            </a:extLst>
          </p:cNvPr>
          <p:cNvSpPr>
            <a:spLocks xmlns:a="http://schemas.openxmlformats.org/drawingml/2006/main" noGrp="1"/>
          </p:cNvSpPr>
          <p:nvPr/>
        </p:nvSpPr>
        <p:spPr>
          <a:xfrm xmlns:a="http://schemas.openxmlformats.org/drawingml/2006/main">
            <a:off x="400050" y="1590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01 기반 고정</a:t>
            </a:r>
          </a:p>
        </p:txBody>
      </p:sp>
      <p:sp>
        <p:nvSpPr>
          <p:cNvPr id="4" name="">
            <a:extLst xmlns:a="http://schemas.openxmlformats.org/drawingml/2006/main">
              <a:ext uri="{FF2B5EF4-FFF2-40B4-BE49-F238E27FC236}">
                <a16:creationId xmlns:a16="http://schemas.microsoft.com/office/drawing/2014/main" id="{6D733F53-05FF-461B-9D9B-654B07B1F859}"/>
              </a:ext>
            </a:extLst>
          </p:cNvPr>
          <p:cNvSpPr>
            <a:spLocks xmlns:a="http://schemas.openxmlformats.org/drawingml/2006/main" noGrp="1"/>
          </p:cNvSpPr>
          <p:nvPr/>
        </p:nvSpPr>
        <p:spPr>
          <a:xfrm xmlns:a="http://schemas.openxmlformats.org/drawingml/2006/main">
            <a:off x="400050" y="2076450"/>
            <a:ext cx="2476500" cy="14859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FCE8D2-3623-4AF0-9433-8A7A0ED606DE}"/>
              </a:ext>
            </a:extLst>
          </p:cNvPr>
          <p:cNvSpPr>
            <a:spLocks xmlns:a="http://schemas.openxmlformats.org/drawingml/2006/main" noGrp="1"/>
          </p:cNvSpPr>
          <p:nvPr/>
        </p:nvSpPr>
        <p:spPr>
          <a:xfrm xmlns:a="http://schemas.openxmlformats.org/drawingml/2006/main">
            <a:off x="609600" y="2457450"/>
            <a:ext cx="2057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변경 정규화·분류</a:t>
            </a:r>
          </a:p>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run_id·감사 로그</a:t>
            </a:r>
          </a:p>
        </p:txBody>
      </p:sp>
      <p:sp>
        <p:nvSpPr>
          <p:cNvPr id="6" name="">
            <a:extLst xmlns:a="http://schemas.openxmlformats.org/drawingml/2006/main">
              <a:ext uri="{FF2B5EF4-FFF2-40B4-BE49-F238E27FC236}">
                <a16:creationId xmlns:a16="http://schemas.microsoft.com/office/drawing/2014/main" id="{5E77077F-63EF-4486-87D3-533A876EA128}"/>
              </a:ext>
            </a:extLst>
          </p:cNvPr>
          <p:cNvSpPr>
            <a:spLocks xmlns:a="http://schemas.openxmlformats.org/drawingml/2006/main" noGrp="1"/>
          </p:cNvSpPr>
          <p:nvPr/>
        </p:nvSpPr>
        <p:spPr>
          <a:xfrm xmlns:a="http://schemas.openxmlformats.org/drawingml/2006/main">
            <a:off x="2876550" y="2800350"/>
            <a:ext cx="371475"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348D642-8F4C-4091-9054-31F4DA355124}"/>
              </a:ext>
            </a:extLst>
          </p:cNvPr>
          <p:cNvSpPr>
            <a:spLocks xmlns:a="http://schemas.openxmlformats.org/drawingml/2006/main" noGrp="1"/>
          </p:cNvSpPr>
          <p:nvPr/>
        </p:nvSpPr>
        <p:spPr>
          <a:xfrm xmlns:a="http://schemas.openxmlformats.org/drawingml/2006/main">
            <a:off x="3248025" y="1590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02 평가 구축</a:t>
            </a:r>
          </a:p>
        </p:txBody>
      </p:sp>
      <p:sp>
        <p:nvSpPr>
          <p:cNvPr id="8" name="">
            <a:extLst xmlns:a="http://schemas.openxmlformats.org/drawingml/2006/main">
              <a:ext uri="{FF2B5EF4-FFF2-40B4-BE49-F238E27FC236}">
                <a16:creationId xmlns:a16="http://schemas.microsoft.com/office/drawing/2014/main" id="{3D3A2257-6177-4F9C-A825-7CCF80EFE243}"/>
              </a:ext>
            </a:extLst>
          </p:cNvPr>
          <p:cNvSpPr>
            <a:spLocks xmlns:a="http://schemas.openxmlformats.org/drawingml/2006/main" noGrp="1"/>
          </p:cNvSpPr>
          <p:nvPr/>
        </p:nvSpPr>
        <p:spPr>
          <a:xfrm xmlns:a="http://schemas.openxmlformats.org/drawingml/2006/main">
            <a:off x="3248025" y="2076450"/>
            <a:ext cx="2476500" cy="14859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70136F3-C2BC-4FC3-9C64-67029E55486D}"/>
              </a:ext>
            </a:extLst>
          </p:cNvPr>
          <p:cNvSpPr>
            <a:spLocks xmlns:a="http://schemas.openxmlformats.org/drawingml/2006/main" noGrp="1"/>
          </p:cNvSpPr>
          <p:nvPr/>
        </p:nvSpPr>
        <p:spPr>
          <a:xfrm xmlns:a="http://schemas.openxmlformats.org/drawingml/2006/main">
            <a:off x="3457575" y="2457450"/>
            <a:ext cx="2057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historical replay</a:t>
            </a:r>
          </a:p>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검색·패치 지표</a:t>
            </a:r>
          </a:p>
        </p:txBody>
      </p:sp>
      <p:sp>
        <p:nvSpPr>
          <p:cNvPr id="10" name="">
            <a:extLst xmlns:a="http://schemas.openxmlformats.org/drawingml/2006/main">
              <a:ext uri="{FF2B5EF4-FFF2-40B4-BE49-F238E27FC236}">
                <a16:creationId xmlns:a16="http://schemas.microsoft.com/office/drawing/2014/main" id="{BC932F31-F859-4DDA-89D8-8B8ADCA11A00}"/>
              </a:ext>
            </a:extLst>
          </p:cNvPr>
          <p:cNvSpPr>
            <a:spLocks xmlns:a="http://schemas.openxmlformats.org/drawingml/2006/main" noGrp="1"/>
          </p:cNvSpPr>
          <p:nvPr/>
        </p:nvSpPr>
        <p:spPr>
          <a:xfrm xmlns:a="http://schemas.openxmlformats.org/drawingml/2006/main">
            <a:off x="5724525" y="2800350"/>
            <a:ext cx="371475"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F02B107-00BF-49D9-9D3E-BB86F1C9E3E2}"/>
              </a:ext>
            </a:extLst>
          </p:cNvPr>
          <p:cNvSpPr>
            <a:spLocks xmlns:a="http://schemas.openxmlformats.org/drawingml/2006/main" noGrp="1"/>
          </p:cNvSpPr>
          <p:nvPr/>
        </p:nvSpPr>
        <p:spPr>
          <a:xfrm xmlns:a="http://schemas.openxmlformats.org/drawingml/2006/main">
            <a:off x="6096000" y="1590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03 정책 적용</a:t>
            </a:r>
          </a:p>
        </p:txBody>
      </p:sp>
      <p:sp>
        <p:nvSpPr>
          <p:cNvPr id="12" name="">
            <a:extLst xmlns:a="http://schemas.openxmlformats.org/drawingml/2006/main">
              <a:ext uri="{FF2B5EF4-FFF2-40B4-BE49-F238E27FC236}">
                <a16:creationId xmlns:a16="http://schemas.microsoft.com/office/drawing/2014/main" id="{0008378D-7B70-48F2-A4E0-6D18308FCE15}"/>
              </a:ext>
            </a:extLst>
          </p:cNvPr>
          <p:cNvSpPr>
            <a:spLocks xmlns:a="http://schemas.openxmlformats.org/drawingml/2006/main" noGrp="1"/>
          </p:cNvSpPr>
          <p:nvPr/>
        </p:nvSpPr>
        <p:spPr>
          <a:xfrm xmlns:a="http://schemas.openxmlformats.org/drawingml/2006/main">
            <a:off x="6096000" y="2076450"/>
            <a:ext cx="2476500" cy="14859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81448DA-5432-4FF2-81B7-4D1561C09AD4}"/>
              </a:ext>
            </a:extLst>
          </p:cNvPr>
          <p:cNvSpPr>
            <a:spLocks xmlns:a="http://schemas.openxmlformats.org/drawingml/2006/main" noGrp="1"/>
          </p:cNvSpPr>
          <p:nvPr/>
        </p:nvSpPr>
        <p:spPr>
          <a:xfrm xmlns:a="http://schemas.openxmlformats.org/drawingml/2006/main">
            <a:off x="6305550" y="2457450"/>
            <a:ext cx="2057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변경 유형별</a:t>
            </a:r>
          </a:p>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자동화 허용 범위</a:t>
            </a:r>
          </a:p>
        </p:txBody>
      </p:sp>
      <p:sp>
        <p:nvSpPr>
          <p:cNvPr id="14" name="">
            <a:extLst xmlns:a="http://schemas.openxmlformats.org/drawingml/2006/main">
              <a:ext uri="{FF2B5EF4-FFF2-40B4-BE49-F238E27FC236}">
                <a16:creationId xmlns:a16="http://schemas.microsoft.com/office/drawing/2014/main" id="{38165B87-D213-4D4E-B304-E37C83239BE9}"/>
              </a:ext>
            </a:extLst>
          </p:cNvPr>
          <p:cNvSpPr>
            <a:spLocks xmlns:a="http://schemas.openxmlformats.org/drawingml/2006/main" noGrp="1"/>
          </p:cNvSpPr>
          <p:nvPr/>
        </p:nvSpPr>
        <p:spPr>
          <a:xfrm xmlns:a="http://schemas.openxmlformats.org/drawingml/2006/main">
            <a:off x="8572500" y="2800350"/>
            <a:ext cx="371475"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9BE245C-E22A-49D3-98E3-8AAFCEF79B64}"/>
              </a:ext>
            </a:extLst>
          </p:cNvPr>
          <p:cNvSpPr>
            <a:spLocks xmlns:a="http://schemas.openxmlformats.org/drawingml/2006/main" noGrp="1"/>
          </p:cNvSpPr>
          <p:nvPr/>
        </p:nvSpPr>
        <p:spPr>
          <a:xfrm xmlns:a="http://schemas.openxmlformats.org/drawingml/2006/main">
            <a:off x="8943975" y="1590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04 학습 루프</a:t>
            </a:r>
          </a:p>
        </p:txBody>
      </p:sp>
      <p:sp>
        <p:nvSpPr>
          <p:cNvPr id="16" name="">
            <a:extLst xmlns:a="http://schemas.openxmlformats.org/drawingml/2006/main">
              <a:ext uri="{FF2B5EF4-FFF2-40B4-BE49-F238E27FC236}">
                <a16:creationId xmlns:a16="http://schemas.microsoft.com/office/drawing/2014/main" id="{8BC6CBB9-EB25-447E-9A52-942ED5A5DE31}"/>
              </a:ext>
            </a:extLst>
          </p:cNvPr>
          <p:cNvSpPr>
            <a:spLocks xmlns:a="http://schemas.openxmlformats.org/drawingml/2006/main" noGrp="1"/>
          </p:cNvSpPr>
          <p:nvPr/>
        </p:nvSpPr>
        <p:spPr>
          <a:xfrm xmlns:a="http://schemas.openxmlformats.org/drawingml/2006/main">
            <a:off x="8943975" y="2076450"/>
            <a:ext cx="2476500" cy="1485900"/>
          </a:xfrm>
          <a:prstGeom xmlns:a="http://schemas.openxmlformats.org/drawingml/2006/main" prst="rect">
            <a:avLst/>
          </a:prstGeom>
          <a:solidFill xmlns:a="http://schemas.openxmlformats.org/drawingml/2006/main">
            <a:srgbClr val="DFF4F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E2A1A5F-59EF-482D-A22A-AFDCED253852}"/>
              </a:ext>
            </a:extLst>
          </p:cNvPr>
          <p:cNvSpPr>
            <a:spLocks xmlns:a="http://schemas.openxmlformats.org/drawingml/2006/main" noGrp="1"/>
          </p:cNvSpPr>
          <p:nvPr/>
        </p:nvSpPr>
        <p:spPr>
          <a:xfrm xmlns:a="http://schemas.openxmlformats.org/drawingml/2006/main">
            <a:off x="9153525" y="2457450"/>
            <a:ext cx="2057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검증 매핑·승인 결과</a:t>
            </a:r>
          </a:p>
          <a:p xmlns:a="http://schemas.openxmlformats.org/drawingml/2006/main">
            <a:pPr algn="ctr">
              <a:defRPr sz="1575" b="1">
                <a:solidFill>
                  <a:srgbClr val="0B0D12"/>
                </a:solidFill>
                <a:latin typeface="Arial"/>
                <a:ea typeface="Arial"/>
                <a:cs typeface="Arial"/>
              </a:defRPr>
            </a:pPr>
            <a:r>
              <a:rPr sz="1575" b="1">
                <a:solidFill>
                  <a:srgbClr val="0B0D12"/>
                </a:solidFill>
                <a:latin typeface="Arial"/>
                <a:ea typeface="Arial"/>
                <a:cs typeface="Arial"/>
              </a:rPr>
              <a:t>랭킹과 프롬프트 개선</a:t>
            </a:r>
          </a:p>
        </p:txBody>
      </p:sp>
      <p:sp>
        <p:nvSpPr>
          <p:cNvPr id="18" name="">
            <a:extLst xmlns:a="http://schemas.openxmlformats.org/drawingml/2006/main">
              <a:ext uri="{FF2B5EF4-FFF2-40B4-BE49-F238E27FC236}">
                <a16:creationId xmlns:a16="http://schemas.microsoft.com/office/drawing/2014/main" id="{B4212573-128D-4830-B58E-AC75D95077E6}"/>
              </a:ext>
            </a:extLst>
          </p:cNvPr>
          <p:cNvSpPr>
            <a:spLocks xmlns:a="http://schemas.openxmlformats.org/drawingml/2006/main" noGrp="1"/>
          </p:cNvSpPr>
          <p:nvPr/>
        </p:nvSpPr>
        <p:spPr>
          <a:xfrm xmlns:a="http://schemas.openxmlformats.org/drawingml/2006/main">
            <a:off x="400050" y="42386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59616E"/>
                </a:solidFill>
                <a:latin typeface="Arial"/>
                <a:ea typeface="Arial"/>
                <a:cs typeface="Arial"/>
              </a:defRPr>
            </a:pPr>
            <a:r>
              <a:rPr sz="1650" b="1">
                <a:solidFill>
                  <a:srgbClr val="59616E"/>
                </a:solidFill>
                <a:latin typeface="Arial"/>
                <a:ea typeface="Arial"/>
                <a:cs typeface="Arial"/>
              </a:rPr>
              <a:t>로컬 AI의 역할</a:t>
            </a:r>
          </a:p>
        </p:txBody>
      </p:sp>
      <p:sp>
        <p:nvSpPr>
          <p:cNvPr id="19" name="">
            <a:extLst xmlns:a="http://schemas.openxmlformats.org/drawingml/2006/main">
              <a:ext uri="{FF2B5EF4-FFF2-40B4-BE49-F238E27FC236}">
                <a16:creationId xmlns:a16="http://schemas.microsoft.com/office/drawing/2014/main" id="{674DC17B-313D-43D0-8636-200D1420C0B0}"/>
              </a:ext>
            </a:extLst>
          </p:cNvPr>
          <p:cNvSpPr>
            <a:spLocks xmlns:a="http://schemas.openxmlformats.org/drawingml/2006/main" noGrp="1"/>
          </p:cNvSpPr>
          <p:nvPr/>
        </p:nvSpPr>
        <p:spPr>
          <a:xfrm xmlns:a="http://schemas.openxmlformats.org/drawingml/2006/main">
            <a:off x="400050" y="46863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a:solidFill>
                  <a:srgbClr val="0B0D12"/>
                </a:solidFill>
                <a:latin typeface="Arial"/>
                <a:ea typeface="Arial"/>
                <a:cs typeface="Arial"/>
              </a:defRPr>
            </a:pPr>
            <a:r>
              <a:rPr sz="2325" b="1">
                <a:solidFill>
                  <a:srgbClr val="0B0D12"/>
                </a:solidFill>
                <a:latin typeface="Arial"/>
                <a:ea typeface="Arial"/>
                <a:cs typeface="Arial"/>
              </a:rPr>
              <a:t>법령을 이해하고, 근거가 있는 코드 위치에, 검토 가능한 수정안을 제시한다</a:t>
            </a:r>
          </a:p>
        </p:txBody>
      </p:sp>
      <p:sp>
        <p:nvSpPr>
          <p:cNvPr id="20" name="">
            <a:extLst xmlns:a="http://schemas.openxmlformats.org/drawingml/2006/main">
              <a:ext uri="{FF2B5EF4-FFF2-40B4-BE49-F238E27FC236}">
                <a16:creationId xmlns:a16="http://schemas.microsoft.com/office/drawing/2014/main" id="{052EF3E5-1786-490C-A1D6-DEB20F2BF489}"/>
              </a:ext>
            </a:extLst>
          </p:cNvPr>
          <p:cNvSpPr>
            <a:spLocks xmlns:a="http://schemas.openxmlformats.org/drawingml/2006/main" noGrp="1"/>
          </p:cNvSpPr>
          <p:nvPr/>
        </p:nvSpPr>
        <p:spPr>
          <a:xfrm xmlns:a="http://schemas.openxmlformats.org/drawingml/2006/main">
            <a:off x="400050" y="53911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실제 반영 권한은 끝까지 시스템과 사람에게 남긴다</a:t>
            </a:r>
          </a:p>
        </p:txBody>
      </p:sp>
      <p:sp>
        <p:nvSpPr>
          <p:cNvPr id="21" name="">
            <a:extLst xmlns:a="http://schemas.openxmlformats.org/drawingml/2006/main">
              <a:ext uri="{FF2B5EF4-FFF2-40B4-BE49-F238E27FC236}">
                <a16:creationId xmlns:a16="http://schemas.microsoft.com/office/drawing/2014/main" id="{2C59E46E-8F9D-4707-8993-21F919373C42}"/>
              </a:ext>
            </a:extLst>
          </p:cNvPr>
          <p:cNvSpPr>
            <a:spLocks xmlns:a="http://schemas.openxmlformats.org/drawingml/2006/main" noGrp="1"/>
          </p:cNvSpPr>
          <p:nvPr/>
        </p:nvSpPr>
        <p:spPr>
          <a:xfrm xmlns:a="http://schemas.openxmlformats.org/drawingml/2006/main">
            <a:off x="400050" y="6362700"/>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9616E"/>
                </a:solidFill>
                <a:latin typeface="Arial"/>
                <a:ea typeface="Arial"/>
                <a:cs typeface="Arial"/>
              </a:defRPr>
            </a:pPr>
            <a:r>
              <a:rPr sz="900" b="0">
                <a:solidFill>
                  <a:srgbClr val="59616E"/>
                </a:solidFill>
                <a:latin typeface="Arial"/>
                <a:ea typeface="Arial"/>
                <a:cs typeface="Arial"/>
              </a:rPr>
              <a:t>참고 문서: README.md · docs/architecture/ADR.md · ARCHITECTURE_V2.md · specifications/*</a:t>
            </a:r>
          </a:p>
        </p:txBody>
      </p:sp>
    </p:spTree>
    <p:extLst>
      <p:ext uri="{BB962C8B-B14F-4D97-AF65-F5344CB8AC3E}">
        <p14:creationId xmlns:p14="http://schemas.microsoft.com/office/powerpoint/2010/main" val="534487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2026-07-14T14:03:18.2470000Z</dcterms:created>
  <dcterms:modified xsi:type="dcterms:W3CDTF">2026-07-14T14:03:18.2470000Z</dcterms:modified>
</coreProperties>
</file>